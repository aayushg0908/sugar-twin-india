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67AD2-EA7C-4617-8927-7D58AC00CF0A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4931F-992A-46F7-A93C-FA41EA3399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Hook: a person with diabetes sees a doctor about four times a year; in between, glucose rises and falls hundreds of times and no one is watching. Sugar Twin India gives every patient a virtual copy of their body that warns the doctor two hours early and lets the doctor test advice before giving it.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322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Aayush Gupta (team leader), Dhruv Gandhi and Divyansh Singh in one line each: name and what they built.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477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Points: 101 million people with diabetes in India. Harm happens between visits. CGMs collect data but only show what already happened, and a doctor cannot read 288 readings a day for hundreds of patients. The EHR knows the history but is not connected to the live stream.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069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capabilities. Triage, early warning with reasons, and advice tested on the patient's own physiology twin.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27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left to right: synthetic EHR and 14 days of 5-minute CGM and smartwatch data; fusion into 97 features every 30 minutes using only what an app would know; LightGBM and GRU predict alerts and the glucose curve; a personal physiology twin answers what-if questions; FastAPI and a React dashboard serve the doctor.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644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Why synthetic: privacy law and the challenge rules. Both streams are generated from the same hidden physiology so HbA1c, medicines and the CGM curve agree; the hidden values are never model inputs. Realism checked against Indian literature and real ShanghaiT2DM CGM data.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138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ML models predict what will happen. Because they learn correlation, not cause and effect, what-if questions go to the physiology twin.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603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Honest testing by patient. Spike AUROC 0.958 vs 0.71 trend rule; 95% of spikes flagged early; lows 0.978; forecast error 13.8 mg/dL at 1 hour.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555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Fusion ablation: same LightGBM settings on growing feature sets. Twin: personalised parameters predict week-2 meal peaks better than population averages.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27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Robustness: cold start, no meal logging, no smartwatch, noisier sensor all pass. Scenario tests: honest about the five failures and why they motivate the twin.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205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flow: triage list, clinical summary, forecast chart with reveal, play the replay to watch an alert appear before a spike, reasons, suggestions.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450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Try it on a suggestion, show the twin profile, change meal type, add a walk, skip a dose.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341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 the limitations plainly; juries trust teams that do. Then next steps.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971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Close: Sugar Twin turns a stream of numbers into one question a doctor can answer in seconds. Thank you. Show the GitHub link.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D4931F-992A-46F7-A93C-FA41EA33998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79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EA72-547C-F9B1-83A4-ED0BAEF01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5DDCE-F4BF-321D-4A40-DE7686084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28751-3646-E7AA-7515-279F88E6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CD98A-FEDE-61E9-7CED-E661F151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D3D1B-E318-CC7C-49B0-7C30DF27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03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15FD9-08BA-E254-63AA-8A6D07143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3273C-730A-1EEF-3E4E-2D6D44063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0F724-7C2F-7D7C-CF65-D3D3E2A2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29D60-7EFE-9A63-6FDE-42A2C2554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D2442-2294-5985-6950-1C1D4E82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70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38B6-F1B3-54A2-65BE-A62D56AA1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894F8-C8E2-31CA-4146-4ADAB59A6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CA6F5-7748-6B4D-7FD7-5439379C9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913E0-2A16-7F5A-B8A2-BEBAEC36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B94D5-2374-2C5E-8968-5BBB353B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12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260B9-E1B5-3C9A-8C85-F097EDB42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4666-5521-1C81-70A7-11903A8A9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B38EB-34AB-369B-E271-5D36559D6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A868E-4C95-4F7F-07D9-CBF45455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8A78B-AADE-02E5-085D-251995918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636AE-4586-496A-5EA4-B5FA6B9C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7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8EC6D-B99B-C192-3652-720988941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89E4A-94BB-90B2-3B40-8C44BEAE3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7EE28-2146-6A50-084D-FCBF85FB9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D7499-EF7C-D3E0-404A-85A4FCCFE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3DBB2-9FD9-DA02-BD35-D0A60D92E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33965-1B39-3C0E-64EA-47FEFE3D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4533A-04AF-9599-9AD7-EBA7BE86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2F701-E7E1-0BB1-3135-522D5400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79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B56BE-52B8-60CA-A1C8-12B358CC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D479E-EEB4-DAFD-0B5B-15EA32E3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CDC4F-7A76-E1B4-B132-DB072508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2364B-CD6C-363A-714C-27311DE3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71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210D0-16DF-668E-1A2F-2DA8C7A9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229D8-08D8-AC69-106E-983A3D58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5CCCC-B98B-C4F0-4F8E-24A7DA06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46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C6A5-FE28-7811-28B8-56C5F3E1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66A7C-313B-67FA-8171-E77E28306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0DEA2-ECB2-A44F-49D8-1FE26ABA8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FC22D-23CB-3ABA-E96E-2DCD2B60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B7139-6418-CF7F-712B-9E2B1501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A3DF7-90B6-EE53-0E86-C242F054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676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3445-F41F-30AB-222D-E8CD7320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BEDFF-0A22-49B5-E832-564CBB2A7A6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2689A-E003-EAB3-77BD-275212B6C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CB6BA-AD6F-3F4A-9373-D24920CF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5D3ED-458E-3724-7416-7CF1F20DC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887D6-2092-D141-B6C4-C27C559B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66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A8821-8CB0-5B0A-1BCB-A1AEC3F1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EF241-70C6-0CE8-580B-368BB280E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BD947-748E-DE9D-EB07-736E0774E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C778C-110E-1F91-9EF0-CEA55EE5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B2E9E-E88D-439B-2184-884319CC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58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8334FC-AAC0-A1E2-EFAF-A2B9B4904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11E50-0DB9-C03D-554B-ECC80CEF2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046AC-C536-F345-4499-265B64E8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7A1C2-506D-4A0F-E3C4-D4B9EFD65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87C68-81E0-7D8F-55B2-2F614149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27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5C3585-6AF6-AA15-11AF-8D51A68B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357E9-4573-13A8-1824-2CB64F580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C53A-F9DC-7248-CA61-9E73C8196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F4F8C-A47B-4CAA-A246-4352AFE6DA1C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75AD-F161-62BD-9288-94CC12BF60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E668C-0FB9-EB41-05E3-FB68C8D87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2A512-8864-4619-ADBB-A314A998B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26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6C885B-4401-7E10-3FE4-DF17EE7DA91B}"/>
              </a:ext>
            </a:extLst>
          </p:cNvPr>
          <p:cNvSpPr txBox="1"/>
          <p:nvPr/>
        </p:nvSpPr>
        <p:spPr>
          <a:xfrm>
            <a:off x="762000" y="14986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8FD9CF"/>
                </a:solidFill>
                <a:latin typeface="Calibri" panose="020F0502020204030204" pitchFamily="34" charset="0"/>
              </a:rPr>
              <a:t>Happiest Health Digital Twin Challenge 2026</a:t>
            </a:r>
            <a:endParaRPr lang="en-IN" sz="1500" b="1">
              <a:solidFill>
                <a:srgbClr val="8FD9C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DC586-D106-2E3C-A09F-F0C64C7697F5}"/>
              </a:ext>
            </a:extLst>
          </p:cNvPr>
          <p:cNvSpPr txBox="1"/>
          <p:nvPr/>
        </p:nvSpPr>
        <p:spPr>
          <a:xfrm>
            <a:off x="762000" y="1854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5400" b="1">
                <a:solidFill>
                  <a:srgbClr val="FFFFFF"/>
                </a:solidFill>
                <a:latin typeface="Calibri" panose="020F0502020204030204" pitchFamily="34" charset="0"/>
              </a:rPr>
              <a:t>Sugar Twin India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5F8D8-DADD-058A-8643-1DE5E0A01958}"/>
              </a:ext>
            </a:extLst>
          </p:cNvPr>
          <p:cNvSpPr txBox="1"/>
          <p:nvPr/>
        </p:nvSpPr>
        <p:spPr>
          <a:xfrm>
            <a:off x="762000" y="28194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>
                <a:solidFill>
                  <a:srgbClr val="D4E4E2"/>
                </a:solidFill>
                <a:latin typeface="Calibri" panose="020F0502020204030204" pitchFamily="34" charset="0"/>
              </a:rPr>
              <a:t>A digital twin of each Type 2 diabetes patient that predicts glucose spikes and lows 2 hours before they happen</a:t>
            </a:r>
            <a:endParaRPr lang="en-IN" sz="2100">
              <a:solidFill>
                <a:srgbClr val="D4E4E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B563A2-52AE-A119-CFDF-A9C04CFAFE62}"/>
              </a:ext>
            </a:extLst>
          </p:cNvPr>
          <p:cNvSpPr txBox="1"/>
          <p:nvPr/>
        </p:nvSpPr>
        <p:spPr>
          <a:xfrm>
            <a:off x="762000" y="41910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Team guptaaayush0908 · Maharaja Agrasen Institute of Technology</a:t>
            </a:r>
            <a:endParaRPr lang="en-IN" sz="1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BEF51B-901E-6A16-8BF4-8192BC5F8B78}"/>
              </a:ext>
            </a:extLst>
          </p:cNvPr>
          <p:cNvSpPr txBox="1"/>
          <p:nvPr/>
        </p:nvSpPr>
        <p:spPr>
          <a:xfrm>
            <a:off x="762000" y="4521200"/>
            <a:ext cx="736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8FD9CF"/>
                </a:solidFill>
                <a:latin typeface="Calibri" panose="020F0502020204030204" pitchFamily="34" charset="0"/>
              </a:rPr>
              <a:t>Reimagining and Reforming Healthcare in India Summit, Bengaluru</a:t>
            </a:r>
            <a:endParaRPr lang="en-IN" sz="1300">
              <a:solidFill>
                <a:srgbClr val="8FD9C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7274E4-508A-B6E9-146E-DAC8588497C6}"/>
              </a:ext>
            </a:extLst>
          </p:cNvPr>
          <p:cNvSpPr/>
          <p:nvPr/>
        </p:nvSpPr>
        <p:spPr>
          <a:xfrm>
            <a:off x="8763000" y="1397000"/>
            <a:ext cx="2921000" cy="3327400"/>
          </a:xfrm>
          <a:prstGeom prst="roundRect">
            <a:avLst>
              <a:gd name="adj" fmla="val 6000"/>
            </a:avLst>
          </a:prstGeom>
          <a:solidFill>
            <a:srgbClr val="164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EE9F2-6A8F-99D6-C4EA-1EEFD9218519}"/>
              </a:ext>
            </a:extLst>
          </p:cNvPr>
          <p:cNvSpPr txBox="1"/>
          <p:nvPr/>
        </p:nvSpPr>
        <p:spPr>
          <a:xfrm>
            <a:off x="9042400" y="1625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0.958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D4E4E2"/>
                </a:solidFill>
                <a:latin typeface="Calibri" panose="020F0502020204030204" pitchFamily="34" charset="0"/>
              </a:rPr>
              <a:t>spike-alert AUROC on unseen patients</a:t>
            </a:r>
          </a:p>
          <a:p>
            <a:pPr>
              <a:spcAft>
                <a:spcPts val="600"/>
              </a:spcAft>
            </a:pPr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95%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D4E4E2"/>
                </a:solidFill>
                <a:latin typeface="Calibri" panose="020F0502020204030204" pitchFamily="34" charset="0"/>
              </a:rPr>
              <a:t>of spikes flagged up to 2 h early</a:t>
            </a:r>
          </a:p>
          <a:p>
            <a:pPr>
              <a:spcAft>
                <a:spcPts val="600"/>
              </a:spcAft>
            </a:pPr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±13.8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D4E4E2"/>
                </a:solidFill>
                <a:latin typeface="Calibri" panose="020F0502020204030204" pitchFamily="34" charset="0"/>
              </a:rPr>
              <a:t>mg/dL error, 1-hour forecast</a:t>
            </a:r>
            <a:endParaRPr lang="en-IN" sz="1200">
              <a:solidFill>
                <a:srgbClr val="D4E4E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318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058DAB-43AF-DBCD-4141-54064AB204E5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27272A"/>
                </a:solidFill>
                <a:latin typeface="Calibri" panose="020F0502020204030204" pitchFamily="34" charset="0"/>
              </a:rPr>
              <a:t>Team guptaaayush0908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0836C7-8AF0-A371-EE29-3B36D7ECC139}"/>
              </a:ext>
            </a:extLst>
          </p:cNvPr>
          <p:cNvSpPr txBox="1"/>
          <p:nvPr/>
        </p:nvSpPr>
        <p:spPr>
          <a:xfrm>
            <a:off x="508000" y="889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Maharaja Agrasen Institute of Technology (MAIT), Delhi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B41091-9D9B-717C-A8D5-7833C7CC2BDA}"/>
              </a:ext>
            </a:extLst>
          </p:cNvPr>
          <p:cNvSpPr/>
          <p:nvPr/>
        </p:nvSpPr>
        <p:spPr>
          <a:xfrm>
            <a:off x="508000" y="1651000"/>
            <a:ext cx="3556000" cy="3429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DCE30D-9FAD-52F5-9336-24EDD9989363}"/>
              </a:ext>
            </a:extLst>
          </p:cNvPr>
          <p:cNvSpPr/>
          <p:nvPr/>
        </p:nvSpPr>
        <p:spPr>
          <a:xfrm>
            <a:off x="1828800" y="2006600"/>
            <a:ext cx="914400" cy="9144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2200" b="1">
                <a:solidFill>
                  <a:srgbClr val="FFFFFF"/>
                </a:solidFill>
                <a:latin typeface="Calibri" panose="020F0502020204030204" pitchFamily="34" charset="0"/>
              </a:rPr>
              <a:t>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F1505F-1854-F3C7-F4CC-C7563B8167AD}"/>
              </a:ext>
            </a:extLst>
          </p:cNvPr>
          <p:cNvSpPr txBox="1"/>
          <p:nvPr/>
        </p:nvSpPr>
        <p:spPr>
          <a:xfrm>
            <a:off x="711200" y="3175000"/>
            <a:ext cx="314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2200" b="1">
                <a:solidFill>
                  <a:srgbClr val="27272A"/>
                </a:solidFill>
                <a:latin typeface="Calibri" panose="020F0502020204030204" pitchFamily="34" charset="0"/>
              </a:rPr>
              <a:t>Aayush Gupta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61755-8A4E-7724-CA0F-F4F614A341BD}"/>
              </a:ext>
            </a:extLst>
          </p:cNvPr>
          <p:cNvSpPr txBox="1"/>
          <p:nvPr/>
        </p:nvSpPr>
        <p:spPr>
          <a:xfrm>
            <a:off x="711200" y="3606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500" b="1">
                <a:solidFill>
                  <a:srgbClr val="1D7B84"/>
                </a:solidFill>
                <a:latin typeface="Calibri" panose="020F0502020204030204" pitchFamily="34" charset="0"/>
              </a:rPr>
              <a:t>Team leader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F8C2B-2E33-FA5E-17F3-12CB829EE94F}"/>
              </a:ext>
            </a:extLst>
          </p:cNvPr>
          <p:cNvSpPr txBox="1"/>
          <p:nvPr/>
        </p:nvSpPr>
        <p:spPr>
          <a:xfrm>
            <a:off x="711200" y="43180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5F5F68"/>
                </a:solidFill>
                <a:latin typeface="Calibri" panose="020F0502020204030204" pitchFamily="34" charset="0"/>
              </a:rPr>
              <a:t>Maharaja Agrasen Institute of Technology</a:t>
            </a:r>
            <a:endParaRPr lang="en-IN" sz="13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FAFAC6-C4E0-ED7A-B3DC-C51A2881051A}"/>
              </a:ext>
            </a:extLst>
          </p:cNvPr>
          <p:cNvSpPr/>
          <p:nvPr/>
        </p:nvSpPr>
        <p:spPr>
          <a:xfrm>
            <a:off x="4318000" y="1651000"/>
            <a:ext cx="3556000" cy="3429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6A36CC-821C-76E6-908B-4AAA6DA8D35E}"/>
              </a:ext>
            </a:extLst>
          </p:cNvPr>
          <p:cNvSpPr/>
          <p:nvPr/>
        </p:nvSpPr>
        <p:spPr>
          <a:xfrm>
            <a:off x="5638800" y="2006600"/>
            <a:ext cx="914400" cy="9144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2200" b="1">
                <a:solidFill>
                  <a:srgbClr val="FFFFFF"/>
                </a:solidFill>
                <a:latin typeface="Calibri" panose="020F0502020204030204" pitchFamily="34" charset="0"/>
              </a:rPr>
              <a:t>DG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ED92F3-F8E8-6F2B-0E0F-3E033D21275A}"/>
              </a:ext>
            </a:extLst>
          </p:cNvPr>
          <p:cNvSpPr txBox="1"/>
          <p:nvPr/>
        </p:nvSpPr>
        <p:spPr>
          <a:xfrm>
            <a:off x="4521200" y="3175000"/>
            <a:ext cx="314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2200" b="1">
                <a:solidFill>
                  <a:srgbClr val="27272A"/>
                </a:solidFill>
                <a:latin typeface="Calibri" panose="020F0502020204030204" pitchFamily="34" charset="0"/>
              </a:rPr>
              <a:t>Dhruv Gandhi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A4F92-65E1-DF89-5C35-1CB18FD6AF2C}"/>
              </a:ext>
            </a:extLst>
          </p:cNvPr>
          <p:cNvSpPr txBox="1"/>
          <p:nvPr/>
        </p:nvSpPr>
        <p:spPr>
          <a:xfrm>
            <a:off x="4521200" y="3606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500" b="1">
                <a:solidFill>
                  <a:srgbClr val="1D7B84"/>
                </a:solidFill>
                <a:latin typeface="Calibri" panose="020F0502020204030204" pitchFamily="34" charset="0"/>
              </a:rPr>
              <a:t>Team member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CEA053-4AB0-667F-27B0-6F7A558646E2}"/>
              </a:ext>
            </a:extLst>
          </p:cNvPr>
          <p:cNvSpPr txBox="1"/>
          <p:nvPr/>
        </p:nvSpPr>
        <p:spPr>
          <a:xfrm>
            <a:off x="4521200" y="43180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5F5F68"/>
                </a:solidFill>
                <a:latin typeface="Calibri" panose="020F0502020204030204" pitchFamily="34" charset="0"/>
              </a:rPr>
              <a:t>Maharaja Agrasen Institute of Technology</a:t>
            </a:r>
            <a:endParaRPr lang="en-IN" sz="13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33DBFB-1C24-1C61-7919-8498171317B3}"/>
              </a:ext>
            </a:extLst>
          </p:cNvPr>
          <p:cNvSpPr/>
          <p:nvPr/>
        </p:nvSpPr>
        <p:spPr>
          <a:xfrm>
            <a:off x="8128000" y="1651000"/>
            <a:ext cx="3556000" cy="3429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05134E-AFD5-09CB-1337-93520290FF20}"/>
              </a:ext>
            </a:extLst>
          </p:cNvPr>
          <p:cNvSpPr/>
          <p:nvPr/>
        </p:nvSpPr>
        <p:spPr>
          <a:xfrm>
            <a:off x="9448800" y="2006600"/>
            <a:ext cx="914400" cy="9144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2200" b="1">
                <a:solidFill>
                  <a:srgbClr val="FFFFFF"/>
                </a:solidFill>
                <a:latin typeface="Calibri" panose="020F0502020204030204" pitchFamily="34" charset="0"/>
              </a:rPr>
              <a:t>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B3A2D1-855D-DA86-FC6B-EF6184089F8B}"/>
              </a:ext>
            </a:extLst>
          </p:cNvPr>
          <p:cNvSpPr txBox="1"/>
          <p:nvPr/>
        </p:nvSpPr>
        <p:spPr>
          <a:xfrm>
            <a:off x="8331200" y="3175000"/>
            <a:ext cx="314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2200" b="1">
                <a:solidFill>
                  <a:srgbClr val="27272A"/>
                </a:solidFill>
                <a:latin typeface="Calibri" panose="020F0502020204030204" pitchFamily="34" charset="0"/>
              </a:rPr>
              <a:t>Divyansh Singh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2924D8-0209-4B52-8BA5-F76062C92F41}"/>
              </a:ext>
            </a:extLst>
          </p:cNvPr>
          <p:cNvSpPr txBox="1"/>
          <p:nvPr/>
        </p:nvSpPr>
        <p:spPr>
          <a:xfrm>
            <a:off x="8331200" y="36068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500" b="1">
                <a:solidFill>
                  <a:srgbClr val="1D7B84"/>
                </a:solidFill>
                <a:latin typeface="Calibri" panose="020F0502020204030204" pitchFamily="34" charset="0"/>
              </a:rPr>
              <a:t>Team member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B5D8FE-B897-DAEE-FB12-C1EFE454AE8E}"/>
              </a:ext>
            </a:extLst>
          </p:cNvPr>
          <p:cNvSpPr txBox="1"/>
          <p:nvPr/>
        </p:nvSpPr>
        <p:spPr>
          <a:xfrm>
            <a:off x="8331200" y="4318000"/>
            <a:ext cx="3149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5F5F68"/>
                </a:solidFill>
                <a:latin typeface="Calibri" panose="020F0502020204030204" pitchFamily="34" charset="0"/>
              </a:rPr>
              <a:t>Maharaja Agrasen Institute of Technology</a:t>
            </a:r>
            <a:endParaRPr lang="en-IN" sz="13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55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BDAFD5-299B-D25B-26F1-B7C0E8947779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27272A"/>
                </a:solidFill>
                <a:latin typeface="Calibri" panose="020F0502020204030204" pitchFamily="34" charset="0"/>
              </a:rPr>
              <a:t>Diabetes is managed between visits, where no one is watching</a:t>
            </a:r>
            <a:endParaRPr lang="en-IN" sz="30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CF663B-4853-4E3D-6C2B-81C98F8C4744}"/>
              </a:ext>
            </a:extLst>
          </p:cNvPr>
          <p:cNvSpPr/>
          <p:nvPr/>
        </p:nvSpPr>
        <p:spPr>
          <a:xfrm>
            <a:off x="508000" y="1397000"/>
            <a:ext cx="3683000" cy="4826000"/>
          </a:xfrm>
          <a:prstGeom prst="roundRect">
            <a:avLst>
              <a:gd name="adj" fmla="val 6000"/>
            </a:avLst>
          </a:prstGeom>
          <a:solidFill>
            <a:srgbClr val="0E2A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B2849-C0DD-8312-42EE-9214457BAC9E}"/>
              </a:ext>
            </a:extLst>
          </p:cNvPr>
          <p:cNvSpPr txBox="1"/>
          <p:nvPr/>
        </p:nvSpPr>
        <p:spPr>
          <a:xfrm>
            <a:off x="812800" y="1905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6400" b="1">
                <a:solidFill>
                  <a:srgbClr val="FFFFFF"/>
                </a:solidFill>
                <a:latin typeface="Calibri" panose="020F0502020204030204" pitchFamily="34" charset="0"/>
              </a:rPr>
              <a:t>101 M</a:t>
            </a:r>
          </a:p>
          <a:p>
            <a:pPr>
              <a:spcAft>
                <a:spcPts val="600"/>
              </a:spcAft>
            </a:pPr>
            <a:r>
              <a:rPr lang="en-US" b="1">
                <a:solidFill>
                  <a:srgbClr val="D4E4E2"/>
                </a:solidFill>
                <a:latin typeface="Calibri" panose="020F0502020204030204" pitchFamily="34" charset="0"/>
              </a:rPr>
              <a:t>people with diabetes in India</a:t>
            </a:r>
          </a:p>
          <a:p>
            <a:pPr>
              <a:spcAft>
                <a:spcPts val="600"/>
              </a:spcAft>
            </a:pPr>
            <a:r>
              <a:rPr lang="en-US" sz="1200">
                <a:solidFill>
                  <a:srgbClr val="8FD9CF"/>
                </a:solidFill>
                <a:latin typeface="Calibri" panose="020F0502020204030204" pitchFamily="34" charset="0"/>
              </a:rPr>
              <a:t>ICMR-INDIAB, 2023</a:t>
            </a:r>
          </a:p>
          <a:p>
            <a:pPr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D4E4E2"/>
                </a:solidFill>
                <a:latin typeface="Calibri" panose="020F0502020204030204" pitchFamily="34" charset="0"/>
              </a:rPr>
              <a:t>Type 2 diabetes is the condition we chose: the most common lifestyle disease in India.</a:t>
            </a:r>
            <a:endParaRPr lang="en-IN" sz="1500">
              <a:solidFill>
                <a:srgbClr val="D4E4E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626117-F306-8E4C-4C39-06160A023130}"/>
              </a:ext>
            </a:extLst>
          </p:cNvPr>
          <p:cNvSpPr/>
          <p:nvPr/>
        </p:nvSpPr>
        <p:spPr>
          <a:xfrm>
            <a:off x="4572000" y="1397000"/>
            <a:ext cx="7112000" cy="14605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D8F192-B4C8-CE61-B0B6-C0B435F25FBC}"/>
              </a:ext>
            </a:extLst>
          </p:cNvPr>
          <p:cNvSpPr/>
          <p:nvPr/>
        </p:nvSpPr>
        <p:spPr>
          <a:xfrm>
            <a:off x="4826000" y="1676400"/>
            <a:ext cx="558800" cy="5588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728FD5-DB1E-90AD-8F6C-8B8F8B3B9ED4}"/>
              </a:ext>
            </a:extLst>
          </p:cNvPr>
          <p:cNvSpPr txBox="1"/>
          <p:nvPr/>
        </p:nvSpPr>
        <p:spPr>
          <a:xfrm>
            <a:off x="5613400" y="16256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27272A"/>
                </a:solidFill>
                <a:latin typeface="Calibri" panose="020F0502020204030204" pitchFamily="34" charset="0"/>
              </a:rPr>
              <a:t>Harm happens between visits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28957-C2CA-966B-159B-53CB6A298B5E}"/>
              </a:ext>
            </a:extLst>
          </p:cNvPr>
          <p:cNvSpPr txBox="1"/>
          <p:nvPr/>
        </p:nvSpPr>
        <p:spPr>
          <a:xfrm>
            <a:off x="5613400" y="20066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Post-meal spikes from rice-heavy meals and late dinners, festivals, missed doses and night-time lows go unseen for months.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1425CF-1681-665F-2206-F9496400061B}"/>
              </a:ext>
            </a:extLst>
          </p:cNvPr>
          <p:cNvSpPr/>
          <p:nvPr/>
        </p:nvSpPr>
        <p:spPr>
          <a:xfrm>
            <a:off x="4572000" y="3048000"/>
            <a:ext cx="7112000" cy="14605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2583EB-D812-90E5-E377-01CED5A8628D}"/>
              </a:ext>
            </a:extLst>
          </p:cNvPr>
          <p:cNvSpPr/>
          <p:nvPr/>
        </p:nvSpPr>
        <p:spPr>
          <a:xfrm>
            <a:off x="4826000" y="3327400"/>
            <a:ext cx="558800" cy="5588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1BCCF-8B19-2E91-0010-55AF79592D72}"/>
              </a:ext>
            </a:extLst>
          </p:cNvPr>
          <p:cNvSpPr txBox="1"/>
          <p:nvPr/>
        </p:nvSpPr>
        <p:spPr>
          <a:xfrm>
            <a:off x="5613400" y="32766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27272A"/>
                </a:solidFill>
                <a:latin typeface="Calibri" panose="020F0502020204030204" pitchFamily="34" charset="0"/>
              </a:rPr>
              <a:t>A CGM only shows the past</a:t>
            </a:r>
            <a:endParaRPr lang="en-IN" sz="19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5D347B-7D52-EEAA-EF53-E443C0A8E2F4}"/>
              </a:ext>
            </a:extLst>
          </p:cNvPr>
          <p:cNvSpPr txBox="1"/>
          <p:nvPr/>
        </p:nvSpPr>
        <p:spPr>
          <a:xfrm>
            <a:off x="5613400" y="36576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By the time an alarm sounds, the spike or the low is already happening.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3531E3C-E4E9-14CA-F271-0BE2F3E06AFF}"/>
              </a:ext>
            </a:extLst>
          </p:cNvPr>
          <p:cNvSpPr/>
          <p:nvPr/>
        </p:nvSpPr>
        <p:spPr>
          <a:xfrm>
            <a:off x="4572000" y="4699000"/>
            <a:ext cx="7112000" cy="14605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2D8ABA-C765-6680-2E3F-E5A5DA837FA6}"/>
              </a:ext>
            </a:extLst>
          </p:cNvPr>
          <p:cNvSpPr/>
          <p:nvPr/>
        </p:nvSpPr>
        <p:spPr>
          <a:xfrm>
            <a:off x="4826000" y="4978400"/>
            <a:ext cx="558800" cy="5588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F7687E-09E0-9BF0-0411-D76C1793E080}"/>
              </a:ext>
            </a:extLst>
          </p:cNvPr>
          <p:cNvSpPr txBox="1"/>
          <p:nvPr/>
        </p:nvSpPr>
        <p:spPr>
          <a:xfrm>
            <a:off x="5613400" y="49276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27272A"/>
                </a:solidFill>
                <a:latin typeface="Calibri" panose="020F0502020204030204" pitchFamily="34" charset="0"/>
              </a:rPr>
              <a:t>Too much data for a doctor</a:t>
            </a:r>
            <a:endParaRPr lang="en-IN" sz="19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358CA-2BAB-38C4-6C61-332DBE1A4F47}"/>
              </a:ext>
            </a:extLst>
          </p:cNvPr>
          <p:cNvSpPr txBox="1"/>
          <p:nvPr/>
        </p:nvSpPr>
        <p:spPr>
          <a:xfrm>
            <a:off x="5613400" y="53086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288 CGM readings a day per patient, plus a smartwatch and a 3-year health record, for hundreds of patients.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168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BAC72-2CEA-E4BF-EDC8-C126567A5500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27272A"/>
                </a:solidFill>
                <a:latin typeface="Calibri" panose="020F0502020204030204" pitchFamily="34" charset="0"/>
              </a:rPr>
              <a:t>A twin of each patient that warns early and tests advice first</a:t>
            </a:r>
            <a:endParaRPr lang="en-IN" sz="30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D7835-54EE-67D1-02BB-6833E3310D48}"/>
              </a:ext>
            </a:extLst>
          </p:cNvPr>
          <p:cNvSpPr txBox="1"/>
          <p:nvPr/>
        </p:nvSpPr>
        <p:spPr>
          <a:xfrm>
            <a:off x="508000" y="889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Fuses the electronic health record (static) with CGM and smartwatch data (dynamic)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39ECAC-0400-F49A-EA60-986F29BB24C1}"/>
              </a:ext>
            </a:extLst>
          </p:cNvPr>
          <p:cNvSpPr/>
          <p:nvPr/>
        </p:nvSpPr>
        <p:spPr>
          <a:xfrm>
            <a:off x="508000" y="1524000"/>
            <a:ext cx="3556000" cy="3810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308CC2-C2BA-0C25-D35B-A2D6A8052118}"/>
              </a:ext>
            </a:extLst>
          </p:cNvPr>
          <p:cNvSpPr/>
          <p:nvPr/>
        </p:nvSpPr>
        <p:spPr>
          <a:xfrm>
            <a:off x="787400" y="1803400"/>
            <a:ext cx="660400" cy="6604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22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E0280-C7D8-C193-4B67-5042EB77E212}"/>
              </a:ext>
            </a:extLst>
          </p:cNvPr>
          <p:cNvSpPr txBox="1"/>
          <p:nvPr/>
        </p:nvSpPr>
        <p:spPr>
          <a:xfrm>
            <a:off x="787400" y="2692400"/>
            <a:ext cx="2997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200" b="1">
                <a:solidFill>
                  <a:srgbClr val="27272A"/>
                </a:solidFill>
                <a:latin typeface="Calibri" panose="020F0502020204030204" pitchFamily="34" charset="0"/>
              </a:rPr>
              <a:t>Triage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EC8E6-34B8-E8A5-2062-C7651308C2A2}"/>
              </a:ext>
            </a:extLst>
          </p:cNvPr>
          <p:cNvSpPr txBox="1"/>
          <p:nvPr/>
        </p:nvSpPr>
        <p:spPr>
          <a:xfrm>
            <a:off x="787400" y="3200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5F5F68"/>
                </a:solidFill>
                <a:latin typeface="Calibri" panose="020F0502020204030204" pitchFamily="34" charset="0"/>
              </a:rPr>
              <a:t>Every patient sorted by risk right now: urgent (a low or above 250 likely) and watch (a spike likely).</a:t>
            </a:r>
            <a:endParaRPr lang="en-IN" sz="16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A8AEBB-08D7-D2E4-1B24-62FDE021BE78}"/>
              </a:ext>
            </a:extLst>
          </p:cNvPr>
          <p:cNvSpPr/>
          <p:nvPr/>
        </p:nvSpPr>
        <p:spPr>
          <a:xfrm>
            <a:off x="4318000" y="1524000"/>
            <a:ext cx="3556000" cy="3810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F21DA7-AA1F-FAF3-E95C-C29BA75C4EA9}"/>
              </a:ext>
            </a:extLst>
          </p:cNvPr>
          <p:cNvSpPr/>
          <p:nvPr/>
        </p:nvSpPr>
        <p:spPr>
          <a:xfrm>
            <a:off x="4597400" y="1803400"/>
            <a:ext cx="660400" cy="6604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22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AE2243-7AE7-A6CC-44AC-36502A2BB1A4}"/>
              </a:ext>
            </a:extLst>
          </p:cNvPr>
          <p:cNvSpPr txBox="1"/>
          <p:nvPr/>
        </p:nvSpPr>
        <p:spPr>
          <a:xfrm>
            <a:off x="4597400" y="2692400"/>
            <a:ext cx="2997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200" b="1">
                <a:solidFill>
                  <a:srgbClr val="27272A"/>
                </a:solidFill>
                <a:latin typeface="Calibri" panose="020F0502020204030204" pitchFamily="34" charset="0"/>
              </a:rPr>
              <a:t>Early warning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709FC-6103-A3FD-38AC-947D89AFD47F}"/>
              </a:ext>
            </a:extLst>
          </p:cNvPr>
          <p:cNvSpPr txBox="1"/>
          <p:nvPr/>
        </p:nvSpPr>
        <p:spPr>
          <a:xfrm>
            <a:off x="4597400" y="3200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5F5F68"/>
                </a:solidFill>
                <a:latin typeface="Calibri" panose="020F0502020204030204" pitchFamily="34" charset="0"/>
              </a:rPr>
              <a:t>Spike above 180, above 250 or a low below 70 predicted up to 2 hours ahead, with plain-language reasons.</a:t>
            </a:r>
            <a:endParaRPr lang="en-IN" sz="16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A2562F-34F7-B8A2-FFAA-7AA0EEA86A0D}"/>
              </a:ext>
            </a:extLst>
          </p:cNvPr>
          <p:cNvSpPr/>
          <p:nvPr/>
        </p:nvSpPr>
        <p:spPr>
          <a:xfrm>
            <a:off x="8128000" y="1524000"/>
            <a:ext cx="3556000" cy="3810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B56198-5C82-6E26-5ABC-A5371BC5FC72}"/>
              </a:ext>
            </a:extLst>
          </p:cNvPr>
          <p:cNvSpPr/>
          <p:nvPr/>
        </p:nvSpPr>
        <p:spPr>
          <a:xfrm>
            <a:off x="8407400" y="1803400"/>
            <a:ext cx="660400" cy="6604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22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6DD51D-193F-7048-0187-AC93F226380E}"/>
              </a:ext>
            </a:extLst>
          </p:cNvPr>
          <p:cNvSpPr txBox="1"/>
          <p:nvPr/>
        </p:nvSpPr>
        <p:spPr>
          <a:xfrm>
            <a:off x="8407400" y="2692400"/>
            <a:ext cx="2997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27272A"/>
                </a:solidFill>
                <a:latin typeface="Calibri" panose="020F0502020204030204" pitchFamily="34" charset="0"/>
              </a:rPr>
              <a:t>Advice tested on the twin</a:t>
            </a:r>
            <a:endParaRPr lang="en-IN" sz="22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24128-76B9-5908-8D7A-8B469FA1918A}"/>
              </a:ext>
            </a:extLst>
          </p:cNvPr>
          <p:cNvSpPr txBox="1"/>
          <p:nvPr/>
        </p:nvSpPr>
        <p:spPr>
          <a:xfrm>
            <a:off x="8407400" y="3200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5F5F68"/>
                </a:solidFill>
                <a:latin typeface="Calibri" panose="020F0502020204030204" pitchFamily="34" charset="0"/>
              </a:rPr>
              <a:t>The patient's own physiology simulates a smaller meal, a walk or a missed dose before the doctor advises it.</a:t>
            </a:r>
            <a:endParaRPr lang="en-IN" sz="16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6F4AD7-BBA6-8D5F-31C5-FFB9480D60B0}"/>
              </a:ext>
            </a:extLst>
          </p:cNvPr>
          <p:cNvSpPr/>
          <p:nvPr/>
        </p:nvSpPr>
        <p:spPr>
          <a:xfrm>
            <a:off x="508000" y="5588000"/>
            <a:ext cx="11176000" cy="711200"/>
          </a:xfrm>
          <a:prstGeom prst="roundRect">
            <a:avLst>
              <a:gd name="adj" fmla="val 6000"/>
            </a:avLst>
          </a:prstGeom>
          <a:solidFill>
            <a:srgbClr val="E6F3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B87A33-3ECC-6715-CA77-F68794888CA4}"/>
              </a:ext>
            </a:extLst>
          </p:cNvPr>
          <p:cNvSpPr txBox="1"/>
          <p:nvPr/>
        </p:nvSpPr>
        <p:spPr>
          <a:xfrm>
            <a:off x="787400" y="58039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D7B84"/>
                </a:solidFill>
                <a:latin typeface="Calibri" panose="020F0502020204030204" pitchFamily="34" charset="0"/>
              </a:rPr>
              <a:t>Doctor's question answered in seconds: who needs me now, and what should I tell them?</a:t>
            </a:r>
            <a:endParaRPr lang="en-IN" sz="1700" b="1">
              <a:solidFill>
                <a:srgbClr val="1D7B8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38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6BB37-65E3-6862-43A1-C01AAA2EADC9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27272A"/>
                </a:solidFill>
                <a:latin typeface="Calibri" panose="020F0502020204030204" pitchFamily="34" charset="0"/>
              </a:rPr>
              <a:t>How it 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0278D-5242-7A75-067B-2196BF14A5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1066800"/>
            <a:ext cx="9372600" cy="5524500"/>
          </a:xfrm>
          <a:prstGeom prst="rect">
            <a:avLst/>
          </a:prstGeom>
          <a:ln w="12700">
            <a:solidFill>
              <a:srgbClr val="E4E4E7"/>
            </a:solidFill>
          </a:ln>
        </p:spPr>
      </p:pic>
    </p:spTree>
    <p:extLst>
      <p:ext uri="{BB962C8B-B14F-4D97-AF65-F5344CB8AC3E}">
        <p14:creationId xmlns:p14="http://schemas.microsoft.com/office/powerpoint/2010/main" val="146472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D0AEB5-893C-2683-B8E8-5B52A1E809FD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27272A"/>
                </a:solidFill>
                <a:latin typeface="Calibri" panose="020F0502020204030204" pitchFamily="34" charset="0"/>
              </a:rPr>
              <a:t>Two data streams, one virtual body</a:t>
            </a:r>
            <a:endParaRPr lang="en-IN" sz="30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0E609-E6C6-F235-8D3D-6EA909907592}"/>
              </a:ext>
            </a:extLst>
          </p:cNvPr>
          <p:cNvSpPr txBox="1"/>
          <p:nvPr/>
        </p:nvSpPr>
        <p:spPr>
          <a:xfrm>
            <a:off x="508000" y="889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All synthetic: no real patient records (DPDP Act and HIPAA safe)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0ECCCE-A948-EA5E-C6B9-AB918FCF2F1D}"/>
              </a:ext>
            </a:extLst>
          </p:cNvPr>
          <p:cNvSpPr/>
          <p:nvPr/>
        </p:nvSpPr>
        <p:spPr>
          <a:xfrm>
            <a:off x="508000" y="1397000"/>
            <a:ext cx="5461000" cy="317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24132-6AA8-13DB-3495-DA0588972181}"/>
              </a:ext>
            </a:extLst>
          </p:cNvPr>
          <p:cNvSpPr txBox="1"/>
          <p:nvPr/>
        </p:nvSpPr>
        <p:spPr>
          <a:xfrm>
            <a:off x="762000" y="16002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D7B84"/>
                </a:solidFill>
                <a:latin typeface="Calibri" panose="020F0502020204030204" pitchFamily="34" charset="0"/>
              </a:rPr>
              <a:t>Static: synthetic EHR · 5,000 Indian patients</a:t>
            </a:r>
            <a:endParaRPr lang="en-IN" sz="1700" b="1">
              <a:solidFill>
                <a:srgbClr val="1D7B84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A3C4B-ECD4-9EFF-EE33-E9263F8F6348}"/>
              </a:ext>
            </a:extLst>
          </p:cNvPr>
          <p:cNvSpPr txBox="1"/>
          <p:nvPr/>
        </p:nvSpPr>
        <p:spPr>
          <a:xfrm>
            <a:off x="762000" y="20320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Demographics, lifestyle, regional diet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Diagnoses coded in ICD-10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3 years of labs and vitals (LOINC)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Medicines on a realistic treatment ladder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Genetic markers: 4 T2D variants + polygenic score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3DB181-4FBC-FDD0-9C49-14631B842C3B}"/>
              </a:ext>
            </a:extLst>
          </p:cNvPr>
          <p:cNvSpPr/>
          <p:nvPr/>
        </p:nvSpPr>
        <p:spPr>
          <a:xfrm>
            <a:off x="6223000" y="1397000"/>
            <a:ext cx="5461000" cy="3175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16709-62B6-8211-6270-D039B7108AFA}"/>
              </a:ext>
            </a:extLst>
          </p:cNvPr>
          <p:cNvSpPr txBox="1"/>
          <p:nvPr/>
        </p:nvSpPr>
        <p:spPr>
          <a:xfrm>
            <a:off x="6477000" y="16002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1D7B84"/>
                </a:solidFill>
                <a:latin typeface="Calibri" panose="020F0502020204030204" pitchFamily="34" charset="0"/>
              </a:rPr>
              <a:t>Dynamic: wearables · 14 days, every 5 min</a:t>
            </a:r>
            <a:endParaRPr lang="en-IN" sz="1700" b="1">
              <a:solidFill>
                <a:srgbClr val="1D7B8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2C84D-BA16-EDC7-ED52-2BE10E668D61}"/>
              </a:ext>
            </a:extLst>
          </p:cNvPr>
          <p:cNvSpPr txBox="1"/>
          <p:nvPr/>
        </p:nvSpPr>
        <p:spPr>
          <a:xfrm>
            <a:off x="6477000" y="20320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CGM glucose with sensor noise and gaps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Heart rate, HRV, steps, sleep stages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Logged meals (about 60%), doses, exercise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Indian meal times, feasts, fasting, illness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IN" sz="1500">
                <a:solidFill>
                  <a:srgbClr val="27272A"/>
                </a:solidFill>
                <a:latin typeface="Calibri" panose="020F0502020204030204" pitchFamily="34" charset="0"/>
              </a:rPr>
              <a:t>20 million readings per stream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0306D0-2668-2BFD-922C-CB0320E09502}"/>
              </a:ext>
            </a:extLst>
          </p:cNvPr>
          <p:cNvSpPr/>
          <p:nvPr/>
        </p:nvSpPr>
        <p:spPr>
          <a:xfrm>
            <a:off x="508000" y="4826000"/>
            <a:ext cx="3556000" cy="1422400"/>
          </a:xfrm>
          <a:prstGeom prst="roundRect">
            <a:avLst>
              <a:gd name="adj" fmla="val 6000"/>
            </a:avLst>
          </a:prstGeom>
          <a:solidFill>
            <a:srgbClr val="E6F3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166F6-C3E3-AB95-8467-420AD6040111}"/>
              </a:ext>
            </a:extLst>
          </p:cNvPr>
          <p:cNvSpPr txBox="1"/>
          <p:nvPr/>
        </p:nvSpPr>
        <p:spPr>
          <a:xfrm>
            <a:off x="736600" y="50038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1D7B84"/>
                </a:solidFill>
                <a:latin typeface="Calibri" panose="020F0502020204030204" pitchFamily="34" charset="0"/>
              </a:rPr>
              <a:t>r = 0.93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179617-D481-52B1-9EB8-24955AE753DD}"/>
              </a:ext>
            </a:extLst>
          </p:cNvPr>
          <p:cNvSpPr txBox="1"/>
          <p:nvPr/>
        </p:nvSpPr>
        <p:spPr>
          <a:xfrm>
            <a:off x="736600" y="55372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27272A"/>
                </a:solidFill>
                <a:latin typeface="Calibri" panose="020F0502020204030204" pitchFamily="34" charset="0"/>
              </a:rPr>
              <a:t>CGM-estimated vs lab HbA1c: both streams describe one body</a:t>
            </a:r>
            <a:endParaRPr lang="en-IN" sz="1300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5C8F43-6370-5AFF-187E-D93F6DE11AF6}"/>
              </a:ext>
            </a:extLst>
          </p:cNvPr>
          <p:cNvSpPr/>
          <p:nvPr/>
        </p:nvSpPr>
        <p:spPr>
          <a:xfrm>
            <a:off x="4318000" y="4826000"/>
            <a:ext cx="3556000" cy="1422400"/>
          </a:xfrm>
          <a:prstGeom prst="roundRect">
            <a:avLst>
              <a:gd name="adj" fmla="val 6000"/>
            </a:avLst>
          </a:prstGeom>
          <a:solidFill>
            <a:srgbClr val="E6F3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B70CFD-0E02-DE51-52E6-74EB1C6F6A3D}"/>
              </a:ext>
            </a:extLst>
          </p:cNvPr>
          <p:cNvSpPr txBox="1"/>
          <p:nvPr/>
        </p:nvSpPr>
        <p:spPr>
          <a:xfrm>
            <a:off x="4546600" y="50038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1D7B84"/>
                </a:solidFill>
                <a:latin typeface="Calibri" panose="020F0502020204030204" pitchFamily="34" charset="0"/>
              </a:rPr>
              <a:t>82% vs 84%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D4DD4A-4917-2FFA-94F6-31CA2291722F}"/>
              </a:ext>
            </a:extLst>
          </p:cNvPr>
          <p:cNvSpPr txBox="1"/>
          <p:nvPr/>
        </p:nvSpPr>
        <p:spPr>
          <a:xfrm>
            <a:off x="4546600" y="55372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27272A"/>
                </a:solidFill>
                <a:latin typeface="Calibri" panose="020F0502020204030204" pitchFamily="34" charset="0"/>
              </a:rPr>
              <a:t>time in range: simulated vs real ShanghaiT2DM CGM</a:t>
            </a:r>
            <a:endParaRPr lang="en-IN" sz="1300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CC12956-D787-0ED9-B3FA-D0BECE22C3E4}"/>
              </a:ext>
            </a:extLst>
          </p:cNvPr>
          <p:cNvSpPr/>
          <p:nvPr/>
        </p:nvSpPr>
        <p:spPr>
          <a:xfrm>
            <a:off x="8128000" y="4826000"/>
            <a:ext cx="3556000" cy="1422400"/>
          </a:xfrm>
          <a:prstGeom prst="roundRect">
            <a:avLst>
              <a:gd name="adj" fmla="val 6000"/>
            </a:avLst>
          </a:prstGeom>
          <a:solidFill>
            <a:srgbClr val="E6F3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3C558A-3F67-2879-E8D5-747FE3A11DAF}"/>
              </a:ext>
            </a:extLst>
          </p:cNvPr>
          <p:cNvSpPr txBox="1"/>
          <p:nvPr/>
        </p:nvSpPr>
        <p:spPr>
          <a:xfrm>
            <a:off x="8356600" y="50038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1D7B84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1188BF-5300-EC52-CAF1-0F0DDB23A0B5}"/>
              </a:ext>
            </a:extLst>
          </p:cNvPr>
          <p:cNvSpPr txBox="1"/>
          <p:nvPr/>
        </p:nvSpPr>
        <p:spPr>
          <a:xfrm>
            <a:off x="8356600" y="5537200"/>
            <a:ext cx="309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27272A"/>
                </a:solidFill>
                <a:latin typeface="Calibri" panose="020F0502020204030204" pitchFamily="34" charset="0"/>
              </a:rPr>
              <a:t>hidden physiology values given to the models</a:t>
            </a:r>
            <a:endParaRPr lang="en-IN" sz="1300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066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4B5C4-E84A-DF11-702F-493037E49EC1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27272A"/>
                </a:solidFill>
                <a:latin typeface="Calibri" panose="020F0502020204030204" pitchFamily="34" charset="0"/>
              </a:rPr>
              <a:t>Two kinds of twin: one predicts, one simulates</a:t>
            </a:r>
            <a:endParaRPr lang="en-IN" sz="30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13144F-7D31-2533-F3C3-474B68BDBA9E}"/>
              </a:ext>
            </a:extLst>
          </p:cNvPr>
          <p:cNvSpPr/>
          <p:nvPr/>
        </p:nvSpPr>
        <p:spPr>
          <a:xfrm>
            <a:off x="508000" y="1333500"/>
            <a:ext cx="5461000" cy="23114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8DC080-E9D6-3660-E61E-859A783FF52F}"/>
              </a:ext>
            </a:extLst>
          </p:cNvPr>
          <p:cNvSpPr/>
          <p:nvPr/>
        </p:nvSpPr>
        <p:spPr>
          <a:xfrm>
            <a:off x="762000" y="1587500"/>
            <a:ext cx="508000" cy="5080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D0E4C-D776-CF79-E70B-8350D7F76628}"/>
              </a:ext>
            </a:extLst>
          </p:cNvPr>
          <p:cNvSpPr txBox="1"/>
          <p:nvPr/>
        </p:nvSpPr>
        <p:spPr>
          <a:xfrm>
            <a:off x="1447800" y="16637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27272A"/>
                </a:solidFill>
                <a:latin typeface="Calibri" panose="020F0502020204030204" pitchFamily="34" charset="0"/>
              </a:rPr>
              <a:t>LightGBM × 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AD7601-E7D7-FF1A-6769-F7A884B0E2F3}"/>
              </a:ext>
            </a:extLst>
          </p:cNvPr>
          <p:cNvSpPr txBox="1"/>
          <p:nvPr/>
        </p:nvSpPr>
        <p:spPr>
          <a:xfrm>
            <a:off x="762000" y="22987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Alerts for the next 2 h (spike above 180, above 250, low below 70) and forecasts at 30 to 120 min. SHAP gives plain-language reasons.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F7EF7E-F26A-3E5F-3877-0D06B2BFFC36}"/>
              </a:ext>
            </a:extLst>
          </p:cNvPr>
          <p:cNvSpPr/>
          <p:nvPr/>
        </p:nvSpPr>
        <p:spPr>
          <a:xfrm>
            <a:off x="6223000" y="1333500"/>
            <a:ext cx="5461000" cy="23114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ECA98C-065D-BC02-222C-2C30A83FC34F}"/>
              </a:ext>
            </a:extLst>
          </p:cNvPr>
          <p:cNvSpPr/>
          <p:nvPr/>
        </p:nvSpPr>
        <p:spPr>
          <a:xfrm>
            <a:off x="6477000" y="1587500"/>
            <a:ext cx="508000" cy="5080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D9DED-D966-86DF-2896-4CD98D9E48B0}"/>
              </a:ext>
            </a:extLst>
          </p:cNvPr>
          <p:cNvSpPr txBox="1"/>
          <p:nvPr/>
        </p:nvSpPr>
        <p:spPr>
          <a:xfrm>
            <a:off x="7162800" y="16637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27272A"/>
                </a:solidFill>
                <a:latin typeface="Calibri" panose="020F0502020204030204" pitchFamily="34" charset="0"/>
              </a:rPr>
              <a:t>GRU deep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D137F1-85A9-3BCF-1B51-1CE06E673ECA}"/>
              </a:ext>
            </a:extLst>
          </p:cNvPr>
          <p:cNvSpPr txBox="1"/>
          <p:nvPr/>
        </p:nvSpPr>
        <p:spPr>
          <a:xfrm>
            <a:off x="6477000" y="22987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Reads the raw 6-hour sequence (11 channels) plus the EHR vector; multi-task alerts and forecasts.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6CE125-10D1-203E-F752-6097F8236888}"/>
              </a:ext>
            </a:extLst>
          </p:cNvPr>
          <p:cNvSpPr/>
          <p:nvPr/>
        </p:nvSpPr>
        <p:spPr>
          <a:xfrm>
            <a:off x="508000" y="3873500"/>
            <a:ext cx="5461000" cy="2311400"/>
          </a:xfrm>
          <a:prstGeom prst="roundRect">
            <a:avLst>
              <a:gd name="adj" fmla="val 6000"/>
            </a:avLst>
          </a:prstGeom>
          <a:solidFill>
            <a:srgbClr val="E6F3F4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C5A23A-449A-0117-88FC-582B797A22FB}"/>
              </a:ext>
            </a:extLst>
          </p:cNvPr>
          <p:cNvSpPr/>
          <p:nvPr/>
        </p:nvSpPr>
        <p:spPr>
          <a:xfrm>
            <a:off x="762000" y="4127500"/>
            <a:ext cx="508000" cy="5080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91BE82-0454-07A7-8249-27471E5BF81B}"/>
              </a:ext>
            </a:extLst>
          </p:cNvPr>
          <p:cNvSpPr txBox="1"/>
          <p:nvPr/>
        </p:nvSpPr>
        <p:spPr>
          <a:xfrm>
            <a:off x="1447800" y="42037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27272A"/>
                </a:solidFill>
                <a:latin typeface="Calibri" panose="020F0502020204030204" pitchFamily="34" charset="0"/>
              </a:rPr>
              <a:t>Ensemble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C6C4B-905C-AC97-C19B-A7982F401D6B}"/>
              </a:ext>
            </a:extLst>
          </p:cNvPr>
          <p:cNvSpPr txBox="1"/>
          <p:nvPr/>
        </p:nvSpPr>
        <p:spPr>
          <a:xfrm>
            <a:off x="762000" y="48387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Plain average of LightGBM and GRU: nothing tuned on test patients. Feeds the triage list and the forecast chart.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B6D17F-6C29-CDB2-1416-BFEB815DCCDC}"/>
              </a:ext>
            </a:extLst>
          </p:cNvPr>
          <p:cNvSpPr/>
          <p:nvPr/>
        </p:nvSpPr>
        <p:spPr>
          <a:xfrm>
            <a:off x="6223000" y="3873500"/>
            <a:ext cx="5461000" cy="2311400"/>
          </a:xfrm>
          <a:prstGeom prst="roundRect">
            <a:avLst>
              <a:gd name="adj" fmla="val 6000"/>
            </a:avLst>
          </a:prstGeom>
          <a:solidFill>
            <a:srgbClr val="E6F3F4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A4B1FB-9DFD-449D-1188-9AA7B0AF9A63}"/>
              </a:ext>
            </a:extLst>
          </p:cNvPr>
          <p:cNvSpPr/>
          <p:nvPr/>
        </p:nvSpPr>
        <p:spPr>
          <a:xfrm>
            <a:off x="6477000" y="4127500"/>
            <a:ext cx="508000" cy="508000"/>
          </a:xfrm>
          <a:prstGeom prst="ellipse">
            <a:avLst/>
          </a:prstGeom>
          <a:solidFill>
            <a:srgbClr val="1D7B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534E6C-77FA-D966-BB2A-EAA1AAE8DF8A}"/>
              </a:ext>
            </a:extLst>
          </p:cNvPr>
          <p:cNvSpPr txBox="1"/>
          <p:nvPr/>
        </p:nvSpPr>
        <p:spPr>
          <a:xfrm>
            <a:off x="7162800" y="42037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27272A"/>
                </a:solidFill>
                <a:latin typeface="Calibri" panose="020F0502020204030204" pitchFamily="34" charset="0"/>
              </a:rPr>
              <a:t>Personal physiology twin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6125E4-0B07-868A-865C-368CFD4E0145}"/>
              </a:ext>
            </a:extLst>
          </p:cNvPr>
          <p:cNvSpPr txBox="1"/>
          <p:nvPr/>
        </p:nvSpPr>
        <p:spPr>
          <a:xfrm>
            <a:off x="6477000" y="48387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Learns each patient's carb sensitivity, recovery time and walking effect from week 1; simulates meals, walks and missed doses.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590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B73BF-24AE-FF1A-91C7-69A44E1BDE3A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27272A"/>
                </a:solidFill>
                <a:latin typeface="Calibri" panose="020F0502020204030204" pitchFamily="34" charset="0"/>
              </a:rPr>
              <a:t>It sees spikes and lows coming</a:t>
            </a:r>
            <a:endParaRPr lang="en-IN" sz="30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5C677-6EC6-2B2C-47F0-833C16505FFC}"/>
              </a:ext>
            </a:extLst>
          </p:cNvPr>
          <p:cNvSpPr txBox="1"/>
          <p:nvPr/>
        </p:nvSpPr>
        <p:spPr>
          <a:xfrm>
            <a:off x="508000" y="889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F5F68"/>
                </a:solidFill>
                <a:latin typeface="Calibri" panose="020F0502020204030204" pitchFamily="34" charset="0"/>
              </a:rPr>
              <a:t>750 held-out test patients, never used for training</a:t>
            </a:r>
            <a:endParaRPr lang="en-IN" sz="15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2D5958-F661-BB4F-C147-997A0CB20305}"/>
              </a:ext>
            </a:extLst>
          </p:cNvPr>
          <p:cNvSpPr/>
          <p:nvPr/>
        </p:nvSpPr>
        <p:spPr>
          <a:xfrm>
            <a:off x="508000" y="1371600"/>
            <a:ext cx="2603500" cy="2413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B0786-4596-495A-22FF-97453D8FD7D5}"/>
              </a:ext>
            </a:extLst>
          </p:cNvPr>
          <p:cNvSpPr txBox="1"/>
          <p:nvPr/>
        </p:nvSpPr>
        <p:spPr>
          <a:xfrm>
            <a:off x="736600" y="1574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4400" b="1">
                <a:solidFill>
                  <a:srgbClr val="1D7B84"/>
                </a:solidFill>
                <a:latin typeface="Calibri" panose="020F0502020204030204" pitchFamily="34" charset="0"/>
              </a:rPr>
              <a:t>0.958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C6BAE-01CA-8A18-5306-26DC378F9A64}"/>
              </a:ext>
            </a:extLst>
          </p:cNvPr>
          <p:cNvSpPr txBox="1"/>
          <p:nvPr/>
        </p:nvSpPr>
        <p:spPr>
          <a:xfrm>
            <a:off x="736600" y="2438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>
                <a:solidFill>
                  <a:srgbClr val="27272A"/>
                </a:solidFill>
                <a:latin typeface="Calibri" panose="020F0502020204030204" pitchFamily="34" charset="0"/>
              </a:rPr>
              <a:t>spike-alert AUROC (0.924 for T2D) vs 0.71 for a trend rule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339072-8ED9-A349-9D09-48A7C2EF7487}"/>
              </a:ext>
            </a:extLst>
          </p:cNvPr>
          <p:cNvSpPr/>
          <p:nvPr/>
        </p:nvSpPr>
        <p:spPr>
          <a:xfrm>
            <a:off x="3365500" y="1371600"/>
            <a:ext cx="2603500" cy="2413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0A1EA8-C7DE-4752-3182-812333984A07}"/>
              </a:ext>
            </a:extLst>
          </p:cNvPr>
          <p:cNvSpPr txBox="1"/>
          <p:nvPr/>
        </p:nvSpPr>
        <p:spPr>
          <a:xfrm>
            <a:off x="3594100" y="1574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4400" b="1">
                <a:solidFill>
                  <a:srgbClr val="1D7B84"/>
                </a:solidFill>
                <a:latin typeface="Calibri" panose="020F0502020204030204" pitchFamily="34" charset="0"/>
              </a:rPr>
              <a:t>95%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8F7A7-6F80-D95C-4CCA-D5E69C1255BA}"/>
              </a:ext>
            </a:extLst>
          </p:cNvPr>
          <p:cNvSpPr txBox="1"/>
          <p:nvPr/>
        </p:nvSpPr>
        <p:spPr>
          <a:xfrm>
            <a:off x="3594100" y="2438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7272A"/>
                </a:solidFill>
                <a:latin typeface="Calibri" panose="020F0502020204030204" pitchFamily="34" charset="0"/>
              </a:rPr>
              <a:t>of spikes flagged up to 2 hours before they happen</a:t>
            </a:r>
            <a:endParaRPr lang="en-IN" sz="1400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4D33F2-F94E-21BD-BF54-28C934E9AE35}"/>
              </a:ext>
            </a:extLst>
          </p:cNvPr>
          <p:cNvSpPr/>
          <p:nvPr/>
        </p:nvSpPr>
        <p:spPr>
          <a:xfrm>
            <a:off x="6223000" y="1371600"/>
            <a:ext cx="2603500" cy="2413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91419-16C5-FE14-EC73-ADCD26800DCF}"/>
              </a:ext>
            </a:extLst>
          </p:cNvPr>
          <p:cNvSpPr txBox="1"/>
          <p:nvPr/>
        </p:nvSpPr>
        <p:spPr>
          <a:xfrm>
            <a:off x="6451600" y="1574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4400" b="1">
                <a:solidFill>
                  <a:srgbClr val="1D7B84"/>
                </a:solidFill>
                <a:latin typeface="Calibri" panose="020F0502020204030204" pitchFamily="34" charset="0"/>
              </a:rPr>
              <a:t>0.978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A852A2-EA5B-A53F-5BE3-20BCF357A68D}"/>
              </a:ext>
            </a:extLst>
          </p:cNvPr>
          <p:cNvSpPr txBox="1"/>
          <p:nvPr/>
        </p:nvSpPr>
        <p:spPr>
          <a:xfrm>
            <a:off x="6451600" y="2438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27272A"/>
                </a:solidFill>
                <a:latin typeface="Calibri" panose="020F0502020204030204" pitchFamily="34" charset="0"/>
              </a:rPr>
              <a:t>low-sugar AUROC; 94.5% of lows flagged early</a:t>
            </a:r>
            <a:endParaRPr lang="en-IN" sz="1400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F3632C-5515-CFAB-B344-D9D3E7EDED29}"/>
              </a:ext>
            </a:extLst>
          </p:cNvPr>
          <p:cNvSpPr/>
          <p:nvPr/>
        </p:nvSpPr>
        <p:spPr>
          <a:xfrm>
            <a:off x="9080500" y="1371600"/>
            <a:ext cx="2603500" cy="2413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8E7660-D8A9-59EB-2593-F542847452D4}"/>
              </a:ext>
            </a:extLst>
          </p:cNvPr>
          <p:cNvSpPr txBox="1"/>
          <p:nvPr/>
        </p:nvSpPr>
        <p:spPr>
          <a:xfrm>
            <a:off x="9309100" y="1574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4400" b="1">
                <a:solidFill>
                  <a:srgbClr val="1D7B84"/>
                </a:solidFill>
                <a:latin typeface="Calibri" panose="020F0502020204030204" pitchFamily="34" charset="0"/>
              </a:rPr>
              <a:t>±13.8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663CA3-3075-B3CF-B7AB-95C69BBEBFD8}"/>
              </a:ext>
            </a:extLst>
          </p:cNvPr>
          <p:cNvSpPr txBox="1"/>
          <p:nvPr/>
        </p:nvSpPr>
        <p:spPr>
          <a:xfrm>
            <a:off x="9309100" y="2438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>
                <a:solidFill>
                  <a:srgbClr val="27272A"/>
                </a:solidFill>
                <a:latin typeface="Calibri" panose="020F0502020204030204" pitchFamily="34" charset="0"/>
              </a:rPr>
              <a:t>mg/dL error at 60 min vs ±21.3 assuming no change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06074A0-1166-76E1-FBA6-09251672D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942109"/>
              </p:ext>
            </p:extLst>
          </p:nvPr>
        </p:nvGraphicFramePr>
        <p:xfrm>
          <a:off x="508000" y="4114800"/>
          <a:ext cx="11176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5708903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2302275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83167420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77237119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98349458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Glucose forecast</a:t>
                      </a:r>
                    </a:p>
                  </a:txBody>
                  <a:tcPr marL="127000" marT="38100" marB="38100" anchor="ctr">
                    <a:solidFill>
                      <a:srgbClr val="1D7B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30 min</a:t>
                      </a:r>
                    </a:p>
                  </a:txBody>
                  <a:tcPr marL="127000" marT="38100" marB="38100" anchor="ctr">
                    <a:solidFill>
                      <a:srgbClr val="1D7B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60 min</a:t>
                      </a:r>
                    </a:p>
                  </a:txBody>
                  <a:tcPr marL="127000" marT="38100" marB="38100" anchor="ctr">
                    <a:solidFill>
                      <a:srgbClr val="1D7B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90 min</a:t>
                      </a:r>
                    </a:p>
                  </a:txBody>
                  <a:tcPr marL="127000" marT="38100" marB="38100" anchor="ctr">
                    <a:solidFill>
                      <a:srgbClr val="1D7B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120 min</a:t>
                      </a:r>
                    </a:p>
                  </a:txBody>
                  <a:tcPr marL="127000" marT="38100" marB="38100" anchor="ctr">
                    <a:solidFill>
                      <a:srgbClr val="1D7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4894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s-ES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Sugar Twin error (mg/dL)</a:t>
                      </a:r>
                      <a:endParaRPr lang="en-IN" sz="1400" b="0">
                        <a:solidFill>
                          <a:srgbClr val="27272A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10.6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13.8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15.9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17.1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785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'Glucose stays the same' baseline</a:t>
                      </a:r>
                      <a:endParaRPr lang="en-IN" sz="1400" b="0">
                        <a:solidFill>
                          <a:srgbClr val="27272A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14.1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21.3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27.3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31.7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35040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AABBD25-7216-263D-46D6-41F956FA7056}"/>
              </a:ext>
            </a:extLst>
          </p:cNvPr>
          <p:cNvSpPr txBox="1"/>
          <p:nvPr/>
        </p:nvSpPr>
        <p:spPr>
          <a:xfrm>
            <a:off x="508000" y="5867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5F5F68"/>
                </a:solidFill>
                <a:latin typeface="Calibri" panose="020F0502020204030204" pitchFamily="34" charset="0"/>
              </a:rPr>
              <a:t>Spike alerts at 80% sensitivity: precision 0.75, about 1.5 alerts per patient-day. Clarke error grid zones A + B above 99% at every horizon.</a:t>
            </a:r>
            <a:endParaRPr lang="en-IN" sz="13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689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E11664-1379-F00F-B7F5-F33CCED5AE97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27272A"/>
                </a:solidFill>
                <a:latin typeface="Calibri" panose="020F0502020204030204" pitchFamily="34" charset="0"/>
              </a:rPr>
              <a:t>Fusing the streams helps, and personal beats average</a:t>
            </a:r>
            <a:endParaRPr lang="en-IN" sz="30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3D64AD-DC16-46D5-5B33-4018C251A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583813"/>
              </p:ext>
            </p:extLst>
          </p:nvPr>
        </p:nvGraphicFramePr>
        <p:xfrm>
          <a:off x="508000" y="1270000"/>
          <a:ext cx="685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7571609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667773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2811016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05801106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Inputs</a:t>
                      </a:r>
                    </a:p>
                  </a:txBody>
                  <a:tcPr marL="127000" marT="38100" marB="38100" anchor="ctr">
                    <a:solidFill>
                      <a:srgbClr val="1D7B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Spike AUROC</a:t>
                      </a:r>
                    </a:p>
                  </a:txBody>
                  <a:tcPr marL="127000" marT="38100" marB="38100" anchor="ctr">
                    <a:solidFill>
                      <a:srgbClr val="1D7B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T2D</a:t>
                      </a:r>
                    </a:p>
                  </a:txBody>
                  <a:tcPr marL="127000" marT="38100" marB="38100" anchor="ctr">
                    <a:solidFill>
                      <a:srgbClr val="1D7B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60-min error</a:t>
                      </a:r>
                    </a:p>
                  </a:txBody>
                  <a:tcPr marL="127000" marT="38100" marB="38100" anchor="ctr">
                    <a:solidFill>
                      <a:srgbClr val="1D7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71885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CGM only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0.952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0.915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14.8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46620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CGM + smartwatch + logs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0.955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0.919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14.1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17005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CGM + EHR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0.953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0.917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14.6</a:t>
                      </a:r>
                    </a:p>
                  </a:txBody>
                  <a:tcPr marL="1270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62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Full fusion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0.956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0.921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>
                          <a:solidFill>
                            <a:srgbClr val="27272A"/>
                          </a:solidFill>
                          <a:latin typeface="Calibri" panose="020F0502020204030204" pitchFamily="34" charset="0"/>
                        </a:rPr>
                        <a:t>13.9</a:t>
                      </a:r>
                    </a:p>
                  </a:txBody>
                  <a:tcPr marL="127000" marT="38100" marB="38100" anchor="ctr">
                    <a:solidFill>
                      <a:srgbClr val="F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80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E4899FE-5DD5-BDB4-E66A-25CACBF66558}"/>
              </a:ext>
            </a:extLst>
          </p:cNvPr>
          <p:cNvSpPr txBox="1"/>
          <p:nvPr/>
        </p:nvSpPr>
        <p:spPr>
          <a:xfrm>
            <a:off x="508000" y="45212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5F5F68"/>
                </a:solidFill>
                <a:latin typeface="Calibri" panose="020F0502020204030204" pitchFamily="34" charset="0"/>
              </a:rPr>
              <a:t>Each stream adds information; full fusion is best for spikes and forecasts. Low-sugar prediction comes mostly from the CGM itself.</a:t>
            </a:r>
            <a:endParaRPr lang="en-IN" sz="1400">
              <a:solidFill>
                <a:srgbClr val="5F5F6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3D3D99-72D1-9E3F-1B97-5F81285BFA4D}"/>
              </a:ext>
            </a:extLst>
          </p:cNvPr>
          <p:cNvSpPr/>
          <p:nvPr/>
        </p:nvSpPr>
        <p:spPr>
          <a:xfrm>
            <a:off x="7747000" y="1270000"/>
            <a:ext cx="3937000" cy="3810000"/>
          </a:xfrm>
          <a:prstGeom prst="roundRect">
            <a:avLst>
              <a:gd name="adj" fmla="val 6000"/>
            </a:avLst>
          </a:prstGeom>
          <a:solidFill>
            <a:srgbClr val="0E2A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45178-624C-CBE0-8BEC-3E72EE89444E}"/>
              </a:ext>
            </a:extLst>
          </p:cNvPr>
          <p:cNvSpPr txBox="1"/>
          <p:nvPr/>
        </p:nvSpPr>
        <p:spPr>
          <a:xfrm>
            <a:off x="8026400" y="15240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b="1">
                <a:solidFill>
                  <a:srgbClr val="8FD9CF"/>
                </a:solidFill>
                <a:latin typeface="Calibri" panose="020F0502020204030204" pitchFamily="34" charset="0"/>
              </a:rPr>
              <a:t>Personal twin</a:t>
            </a:r>
          </a:p>
          <a:p>
            <a:pPr>
              <a:spcAft>
                <a:spcPts val="600"/>
              </a:spcAft>
            </a:pPr>
            <a:r>
              <a:rPr lang="en-US" sz="4400" b="1">
                <a:solidFill>
                  <a:srgbClr val="FFFFFF"/>
                </a:solidFill>
                <a:latin typeface="Calibri" panose="020F0502020204030204" pitchFamily="34" charset="0"/>
              </a:rPr>
              <a:t>25 mg/dL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D4E4E2"/>
                </a:solidFill>
                <a:latin typeface="Calibri" panose="020F0502020204030204" pitchFamily="34" charset="0"/>
              </a:rPr>
              <a:t>error predicting a new meal's peak</a:t>
            </a:r>
          </a:p>
          <a:p>
            <a:pPr>
              <a:spcAft>
                <a:spcPts val="600"/>
              </a:spcAft>
            </a:pPr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vs 31 mg/dL one-size-fits-all</a:t>
            </a:r>
          </a:p>
          <a:p>
            <a:pPr>
              <a:spcAft>
                <a:spcPts val="600"/>
              </a:spcAft>
            </a:pPr>
            <a:r>
              <a:rPr lang="en-US" sz="80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D4E4E2"/>
                </a:solidFill>
                <a:latin typeface="Calibri" panose="020F0502020204030204" pitchFamily="34" charset="0"/>
              </a:rPr>
              <a:t>Carb sensitivity learned from week 1 matches the hidden truth: r = 0.92</a:t>
            </a:r>
            <a:endParaRPr lang="en-IN" sz="1300">
              <a:solidFill>
                <a:srgbClr val="D4E4E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581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19F0B8-F82B-FDEC-7E11-AB3C5E14EB60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27272A"/>
                </a:solidFill>
                <a:latin typeface="Calibri" panose="020F0502020204030204" pitchFamily="34" charset="0"/>
              </a:rPr>
              <a:t>Tested the way it will be used</a:t>
            </a:r>
            <a:endParaRPr lang="en-IN" sz="30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BC8648-B229-686F-A607-A2EC47A83AB0}"/>
              </a:ext>
            </a:extLst>
          </p:cNvPr>
          <p:cNvSpPr/>
          <p:nvPr/>
        </p:nvSpPr>
        <p:spPr>
          <a:xfrm>
            <a:off x="508000" y="1320800"/>
            <a:ext cx="5461000" cy="7366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8464B7-0A02-C2BB-4561-742C13AD75A8}"/>
              </a:ext>
            </a:extLst>
          </p:cNvPr>
          <p:cNvSpPr/>
          <p:nvPr/>
        </p:nvSpPr>
        <p:spPr>
          <a:xfrm>
            <a:off x="685800" y="1485900"/>
            <a:ext cx="406400" cy="406400"/>
          </a:xfrm>
          <a:prstGeom prst="ellipse">
            <a:avLst/>
          </a:prstGeom>
          <a:solidFill>
            <a:srgbClr val="2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Calibri" panose="020F0502020204030204" pitchFamily="34" charset="0"/>
              </a:rPr>
              <a:t>OK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8E264-EABA-508D-38C8-A1E02DC3348F}"/>
              </a:ext>
            </a:extLst>
          </p:cNvPr>
          <p:cNvSpPr txBox="1"/>
          <p:nvPr/>
        </p:nvSpPr>
        <p:spPr>
          <a:xfrm>
            <a:off x="1270000" y="15494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27272A"/>
                </a:solidFill>
                <a:latin typeface="Calibri" panose="020F0502020204030204" pitchFamily="34" charset="0"/>
              </a:rPr>
              <a:t>Day 1, no history yet</a:t>
            </a:r>
            <a:endParaRPr lang="en-IN" sz="16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505B2-B190-B033-891C-C2092DFAEDFF}"/>
              </a:ext>
            </a:extLst>
          </p:cNvPr>
          <p:cNvSpPr txBox="1"/>
          <p:nvPr/>
        </p:nvSpPr>
        <p:spPr>
          <a:xfrm>
            <a:off x="4064000" y="1549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600" b="1">
                <a:solidFill>
                  <a:srgbClr val="2E9A6A"/>
                </a:solidFill>
                <a:latin typeface="Calibri" panose="020F0502020204030204" pitchFamily="34" charset="0"/>
              </a:rPr>
              <a:t>spike AUROC 0.955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CFAD28-2E79-005A-9557-72B050829DD8}"/>
              </a:ext>
            </a:extLst>
          </p:cNvPr>
          <p:cNvSpPr/>
          <p:nvPr/>
        </p:nvSpPr>
        <p:spPr>
          <a:xfrm>
            <a:off x="508000" y="2209800"/>
            <a:ext cx="5461000" cy="7366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CA7512-9CF3-D90D-2B6D-8FA927E4CCA1}"/>
              </a:ext>
            </a:extLst>
          </p:cNvPr>
          <p:cNvSpPr/>
          <p:nvPr/>
        </p:nvSpPr>
        <p:spPr>
          <a:xfrm>
            <a:off x="685800" y="2374900"/>
            <a:ext cx="406400" cy="406400"/>
          </a:xfrm>
          <a:prstGeom prst="ellipse">
            <a:avLst/>
          </a:prstGeom>
          <a:solidFill>
            <a:srgbClr val="2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Calibri" panose="020F0502020204030204" pitchFamily="34" charset="0"/>
              </a:rPr>
              <a:t>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EFBA9-780F-523B-13D7-1CDCCB9E7418}"/>
              </a:ext>
            </a:extLst>
          </p:cNvPr>
          <p:cNvSpPr txBox="1"/>
          <p:nvPr/>
        </p:nvSpPr>
        <p:spPr>
          <a:xfrm>
            <a:off x="1270000" y="24384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27272A"/>
                </a:solidFill>
                <a:latin typeface="Calibri" panose="020F0502020204030204" pitchFamily="34" charset="0"/>
              </a:rPr>
              <a:t>Patient never logs meals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EE0CF-2FB3-23A9-9FFE-BF4DE555B383}"/>
              </a:ext>
            </a:extLst>
          </p:cNvPr>
          <p:cNvSpPr txBox="1"/>
          <p:nvPr/>
        </p:nvSpPr>
        <p:spPr>
          <a:xfrm>
            <a:off x="4064000" y="2438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600" b="1">
                <a:solidFill>
                  <a:srgbClr val="2E9A6A"/>
                </a:solidFill>
                <a:latin typeface="Calibri" panose="020F0502020204030204" pitchFamily="34" charset="0"/>
              </a:rPr>
              <a:t>0.955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7E121C-A2FA-2FEF-3869-3BD61B92F44E}"/>
              </a:ext>
            </a:extLst>
          </p:cNvPr>
          <p:cNvSpPr/>
          <p:nvPr/>
        </p:nvSpPr>
        <p:spPr>
          <a:xfrm>
            <a:off x="508000" y="3098800"/>
            <a:ext cx="5461000" cy="7366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1B90BA-BBF3-1361-8E91-8518866BF7C7}"/>
              </a:ext>
            </a:extLst>
          </p:cNvPr>
          <p:cNvSpPr/>
          <p:nvPr/>
        </p:nvSpPr>
        <p:spPr>
          <a:xfrm>
            <a:off x="685800" y="3263900"/>
            <a:ext cx="406400" cy="406400"/>
          </a:xfrm>
          <a:prstGeom prst="ellipse">
            <a:avLst/>
          </a:prstGeom>
          <a:solidFill>
            <a:srgbClr val="2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Calibri" panose="020F0502020204030204" pitchFamily="34" charset="0"/>
              </a:rPr>
              <a:t>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9AAED3-CD26-EB86-55D5-81900A2D0A77}"/>
              </a:ext>
            </a:extLst>
          </p:cNvPr>
          <p:cNvSpPr txBox="1"/>
          <p:nvPr/>
        </p:nvSpPr>
        <p:spPr>
          <a:xfrm>
            <a:off x="1270000" y="33274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27272A"/>
                </a:solidFill>
                <a:latin typeface="Calibri" panose="020F0502020204030204" pitchFamily="34" charset="0"/>
              </a:rPr>
              <a:t>No smartwatch, CGM only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2C4372-859B-0430-1923-52F4A003C4BF}"/>
              </a:ext>
            </a:extLst>
          </p:cNvPr>
          <p:cNvSpPr txBox="1"/>
          <p:nvPr/>
        </p:nvSpPr>
        <p:spPr>
          <a:xfrm>
            <a:off x="4064000" y="3327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600" b="1">
                <a:solidFill>
                  <a:srgbClr val="2E9A6A"/>
                </a:solidFill>
                <a:latin typeface="Calibri" panose="020F0502020204030204" pitchFamily="34" charset="0"/>
              </a:rPr>
              <a:t>0.956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622965-BF82-EA9A-AA42-8A84B14D2E46}"/>
              </a:ext>
            </a:extLst>
          </p:cNvPr>
          <p:cNvSpPr/>
          <p:nvPr/>
        </p:nvSpPr>
        <p:spPr>
          <a:xfrm>
            <a:off x="508000" y="3987800"/>
            <a:ext cx="5461000" cy="7366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4EE9E2-413C-849C-FB1B-3A3618677C88}"/>
              </a:ext>
            </a:extLst>
          </p:cNvPr>
          <p:cNvSpPr/>
          <p:nvPr/>
        </p:nvSpPr>
        <p:spPr>
          <a:xfrm>
            <a:off x="685800" y="4152900"/>
            <a:ext cx="406400" cy="406400"/>
          </a:xfrm>
          <a:prstGeom prst="ellipse">
            <a:avLst/>
          </a:prstGeom>
          <a:solidFill>
            <a:srgbClr val="2E9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Calibri" panose="020F0502020204030204" pitchFamily="34" charset="0"/>
              </a:rPr>
              <a:t>OK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66B940-45EF-D67F-3977-0A2010A23BDD}"/>
              </a:ext>
            </a:extLst>
          </p:cNvPr>
          <p:cNvSpPr txBox="1"/>
          <p:nvPr/>
        </p:nvSpPr>
        <p:spPr>
          <a:xfrm>
            <a:off x="1270000" y="42164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27272A"/>
                </a:solidFill>
                <a:latin typeface="Calibri" panose="020F0502020204030204" pitchFamily="34" charset="0"/>
              </a:rPr>
              <a:t>10% noisier sensor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B16E3A-852B-4FEB-A2A9-D1DCA173CE50}"/>
              </a:ext>
            </a:extLst>
          </p:cNvPr>
          <p:cNvSpPr txBox="1"/>
          <p:nvPr/>
        </p:nvSpPr>
        <p:spPr>
          <a:xfrm>
            <a:off x="4064000" y="4216400"/>
            <a:ext cx="172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600" b="1">
                <a:solidFill>
                  <a:srgbClr val="2E9A6A"/>
                </a:solidFill>
                <a:latin typeface="Calibri" panose="020F0502020204030204" pitchFamily="34" charset="0"/>
              </a:rPr>
              <a:t>0.942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0305DE-5AD9-BE50-49D8-1688D2E94928}"/>
              </a:ext>
            </a:extLst>
          </p:cNvPr>
          <p:cNvSpPr/>
          <p:nvPr/>
        </p:nvSpPr>
        <p:spPr>
          <a:xfrm>
            <a:off x="6223000" y="1320800"/>
            <a:ext cx="5461000" cy="3403600"/>
          </a:xfrm>
          <a:prstGeom prst="roundRect">
            <a:avLst>
              <a:gd name="adj" fmla="val 6000"/>
            </a:avLst>
          </a:prstGeom>
          <a:solidFill>
            <a:srgbClr val="E6F3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D49EC1-F8DD-6193-CCA4-81366839AF72}"/>
              </a:ext>
            </a:extLst>
          </p:cNvPr>
          <p:cNvSpPr txBox="1"/>
          <p:nvPr/>
        </p:nvSpPr>
        <p:spPr>
          <a:xfrm>
            <a:off x="6502400" y="15494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900" b="1">
                <a:solidFill>
                  <a:srgbClr val="1D7B84"/>
                </a:solidFill>
                <a:latin typeface="Calibri" panose="020F0502020204030204" pitchFamily="34" charset="0"/>
              </a:rPr>
              <a:t>19 of 24 clinical scenario checks pass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Feasts, missed doses, illness, fasting on sulfonylureas, night-time lows, healthy people after a big meal.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The 5 that fail are what-if checks on the ML models (for example, a walk should lower the forecast): they learn correlation, not cause and effect.</a:t>
            </a:r>
          </a:p>
          <a:p>
            <a:pPr>
              <a:spcAft>
                <a:spcPts val="800"/>
              </a:spcAft>
            </a:pPr>
            <a:r>
              <a:rPr lang="en-US" sz="1500" b="1">
                <a:solidFill>
                  <a:srgbClr val="1D7B84"/>
                </a:solidFill>
                <a:latin typeface="Calibri" panose="020F0502020204030204" pitchFamily="34" charset="0"/>
              </a:rPr>
              <a:t>That is why what-if questions go to the physiology twin.</a:t>
            </a:r>
            <a:endParaRPr lang="en-IN" sz="1500" b="1">
              <a:solidFill>
                <a:srgbClr val="1D7B84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FB5E4B5-B3AD-12B6-B304-F52602E35830}"/>
              </a:ext>
            </a:extLst>
          </p:cNvPr>
          <p:cNvSpPr/>
          <p:nvPr/>
        </p:nvSpPr>
        <p:spPr>
          <a:xfrm>
            <a:off x="508000" y="5003800"/>
            <a:ext cx="11176000" cy="1270000"/>
          </a:xfrm>
          <a:prstGeom prst="roundRect">
            <a:avLst>
              <a:gd name="adj" fmla="val 6000"/>
            </a:avLst>
          </a:prstGeom>
          <a:solidFill>
            <a:srgbClr val="0E2A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EA00D0-3F80-38AC-D034-7E38DF2218D4}"/>
              </a:ext>
            </a:extLst>
          </p:cNvPr>
          <p:cNvSpPr txBox="1"/>
          <p:nvPr/>
        </p:nvSpPr>
        <p:spPr>
          <a:xfrm>
            <a:off x="787400" y="5207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700" b="1">
                <a:solidFill>
                  <a:srgbClr val="FFFFFF"/>
                </a:solidFill>
                <a:latin typeface="Calibri" panose="020F0502020204030204" pitchFamily="34" charset="0"/>
              </a:rPr>
              <a:t>Brand-new patient 'Sunita', created outside the dataset</a:t>
            </a:r>
          </a:p>
          <a:p>
            <a:pPr>
              <a:spcAft>
                <a:spcPts val="400"/>
              </a:spcAft>
            </a:pPr>
            <a:r>
              <a:rPr lang="en-US" sz="1500">
                <a:solidFill>
                  <a:srgbClr val="D4E4E2"/>
                </a:solidFill>
                <a:latin typeface="Calibri" panose="020F0502020204030204" pitchFamily="34" charset="0"/>
              </a:rPr>
              <a:t>All 48 of her spikes and 18 lows flagged in advance, about 100 minutes early on average.</a:t>
            </a:r>
            <a:endParaRPr lang="en-IN" sz="1500">
              <a:solidFill>
                <a:srgbClr val="D4E4E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1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B51712-CB27-7DCD-2D5B-24717CC8AD4E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27272A"/>
                </a:solidFill>
                <a:latin typeface="Calibri" panose="020F0502020204030204" pitchFamily="34" charset="0"/>
              </a:rPr>
              <a:t>What the doctor sees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1E024-EBDF-16FB-891E-033CD043B9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315200" cy="5080000"/>
          </a:xfrm>
          <a:prstGeom prst="rect">
            <a:avLst/>
          </a:prstGeom>
          <a:ln w="12700">
            <a:solidFill>
              <a:srgbClr val="E4E4E7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F9A9D6-470F-5AD4-9C37-B8B6CB1FAAD8}"/>
              </a:ext>
            </a:extLst>
          </p:cNvPr>
          <p:cNvSpPr txBox="1"/>
          <p:nvPr/>
        </p:nvSpPr>
        <p:spPr>
          <a:xfrm>
            <a:off x="8128000" y="1270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Patients sorted by risk: urgent and watch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Clinical summary in plain language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12-hour CGM plus 2-hour forecast with likely range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Risks with reasons from the model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Twin suggestions with their simulated effect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Dropdowns: what-if, health record, genetics, accuracy</a:t>
            </a:r>
          </a:p>
          <a:p>
            <a:pPr marL="177800" indent="-177800">
              <a:spcAft>
                <a:spcPts val="500"/>
              </a:spcAft>
              <a:buFont typeface="+mj-lt"/>
              <a:buChar char="•"/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Demo time machine replays 14 days</a:t>
            </a:r>
            <a:endParaRPr lang="en-IN" sz="1500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14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D64216-479D-C4D3-7B4F-38BE30482F15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27272A"/>
                </a:solidFill>
                <a:latin typeface="Calibri" panose="020F0502020204030204" pitchFamily="34" charset="0"/>
              </a:rPr>
              <a:t>Advice tested on the patient's own twin</a:t>
            </a:r>
            <a:endParaRPr lang="en-IN" sz="30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5DE57-4D45-1647-6436-0437840383C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6591300" cy="5080000"/>
          </a:xfrm>
          <a:prstGeom prst="rect">
            <a:avLst/>
          </a:prstGeom>
          <a:ln w="12700">
            <a:solidFill>
              <a:srgbClr val="E4E4E7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21E08C-026C-246B-52B0-5C88282A5B9B}"/>
              </a:ext>
            </a:extLst>
          </p:cNvPr>
          <p:cNvSpPr txBox="1"/>
          <p:nvPr/>
        </p:nvSpPr>
        <p:spPr>
          <a:xfrm>
            <a:off x="7493000" y="13208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>
                <a:solidFill>
                  <a:srgbClr val="1D7B84"/>
                </a:solidFill>
                <a:latin typeface="Calibri" panose="020F0502020204030204" pitchFamily="34" charset="0"/>
              </a:rPr>
              <a:t>The twin learns three things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How much 10 g of carbs raises glucose, how fast it recovers, and how much a walk helps, from week 1 of logged meals and CGM.</a:t>
            </a:r>
          </a:p>
          <a:p>
            <a:pPr>
              <a:spcAft>
                <a:spcPts val="600"/>
              </a:spcAft>
            </a:pPr>
            <a:r>
              <a:rPr lang="en-US" b="1">
                <a:solidFill>
                  <a:srgbClr val="1D7B84"/>
                </a:solidFill>
                <a:latin typeface="Calibri" panose="020F0502020204030204" pitchFamily="34" charset="0"/>
              </a:rPr>
              <a:t>The doctor tries a change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Meal size and type, a walk after eating, or a missed dose: the curve updates against 'if nothing changes'.</a:t>
            </a:r>
          </a:p>
          <a:p>
            <a:pPr>
              <a:spcAft>
                <a:spcPts val="600"/>
              </a:spcAft>
            </a:pPr>
            <a:r>
              <a:rPr lang="en-US" b="1">
                <a:solidFill>
                  <a:srgbClr val="1D7B84"/>
                </a:solidFill>
                <a:latin typeface="Calibri" panose="020F0502020204030204" pitchFamily="34" charset="0"/>
              </a:rPr>
              <a:t>Example: Sunita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7272A"/>
                </a:solidFill>
                <a:latin typeface="Calibri" panose="020F0502020204030204" pitchFamily="34" charset="0"/>
              </a:rPr>
              <a:t>Swapping her usual 133 g high-GI meal for a smaller low-GI one lowers the predicted peak by about 37 mg/dL.</a:t>
            </a:r>
            <a:endParaRPr lang="en-IN" sz="1500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942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E9884E-BDC1-BE71-01D3-CE1B1B6CBDCB}"/>
              </a:ext>
            </a:extLst>
          </p:cNvPr>
          <p:cNvSpPr txBox="1"/>
          <p:nvPr/>
        </p:nvSpPr>
        <p:spPr>
          <a:xfrm>
            <a:off x="508000" y="33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27272A"/>
                </a:solidFill>
                <a:latin typeface="Calibri" panose="020F0502020204030204" pitchFamily="34" charset="0"/>
              </a:rPr>
              <a:t>Honest limits and what comes next</a:t>
            </a:r>
            <a:endParaRPr lang="en-IN" sz="3000" b="1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F24E54-D0BE-1E92-A7A9-449278E728E2}"/>
              </a:ext>
            </a:extLst>
          </p:cNvPr>
          <p:cNvSpPr/>
          <p:nvPr/>
        </p:nvSpPr>
        <p:spPr>
          <a:xfrm>
            <a:off x="508000" y="1320800"/>
            <a:ext cx="5461000" cy="4826000"/>
          </a:xfrm>
          <a:prstGeom prst="roundRect">
            <a:avLst>
              <a:gd name="adj" fmla="val 6000"/>
            </a:avLst>
          </a:prstGeom>
          <a:solidFill>
            <a:srgbClr val="F4F4F5"/>
          </a:solidFill>
          <a:ln w="12700" cap="flat" cmpd="sng" algn="ctr">
            <a:solidFill>
              <a:srgbClr val="E4E4E7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2D234-23A2-FFE1-7985-2165AE8DB353}"/>
              </a:ext>
            </a:extLst>
          </p:cNvPr>
          <p:cNvSpPr txBox="1"/>
          <p:nvPr/>
        </p:nvSpPr>
        <p:spPr>
          <a:xfrm>
            <a:off x="762000" y="15748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200" b="1">
                <a:solidFill>
                  <a:srgbClr val="B8860B"/>
                </a:solidFill>
                <a:latin typeface="Calibri" panose="020F0502020204030204" pitchFamily="34" charset="0"/>
              </a:rPr>
              <a:t>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0BB98-9C36-25C2-5B1C-080D1EEE878A}"/>
              </a:ext>
            </a:extLst>
          </p:cNvPr>
          <p:cNvSpPr txBox="1"/>
          <p:nvPr/>
        </p:nvSpPr>
        <p:spPr>
          <a:xfrm>
            <a:off x="762000" y="2133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1400"/>
              </a:spcAft>
              <a:buFont typeface="+mj-lt"/>
              <a:buChar char="•"/>
            </a:pPr>
            <a:r>
              <a:rPr lang="en-US">
                <a:solidFill>
                  <a:srgbClr val="27272A"/>
                </a:solidFill>
                <a:latin typeface="Calibri" panose="020F0502020204030204" pitchFamily="34" charset="0"/>
              </a:rPr>
              <a:t>All data is synthetic; accuracy on real patients will be lower</a:t>
            </a:r>
          </a:p>
          <a:p>
            <a:pPr marL="177800" indent="-177800">
              <a:spcAft>
                <a:spcPts val="1400"/>
              </a:spcAft>
              <a:buFont typeface="+mj-lt"/>
              <a:buChar char="•"/>
            </a:pPr>
            <a:r>
              <a:rPr lang="en-US">
                <a:solidFill>
                  <a:srgbClr val="27272A"/>
                </a:solidFill>
                <a:latin typeface="Calibri" panose="020F0502020204030204" pitchFamily="34" charset="0"/>
              </a:rPr>
              <a:t>The twin shares equations with the simulator, so its recovery of physiology is an upper bound</a:t>
            </a:r>
          </a:p>
          <a:p>
            <a:pPr marL="177800" indent="-177800">
              <a:spcAft>
                <a:spcPts val="1400"/>
              </a:spcAft>
              <a:buFont typeface="+mj-lt"/>
              <a:buChar char="•"/>
            </a:pPr>
            <a:r>
              <a:rPr lang="en-US">
                <a:solidFill>
                  <a:srgbClr val="27272A"/>
                </a:solidFill>
                <a:latin typeface="Calibri" panose="020F0502020204030204" pitchFamily="34" charset="0"/>
              </a:rPr>
              <a:t>Low-sugar alerts are sensitive but give false alarms (about 3 in 4)</a:t>
            </a:r>
          </a:p>
          <a:p>
            <a:pPr marL="177800" indent="-177800">
              <a:spcAft>
                <a:spcPts val="1400"/>
              </a:spcAft>
              <a:buFont typeface="+mj-lt"/>
              <a:buChar char="•"/>
            </a:pPr>
            <a:r>
              <a:rPr lang="en-US">
                <a:solidFill>
                  <a:srgbClr val="27272A"/>
                </a:solidFill>
                <a:latin typeface="Calibri" panose="020F0502020204030204" pitchFamily="34" charset="0"/>
              </a:rPr>
              <a:t>Warning time is measured on a 30-minute grid</a:t>
            </a:r>
            <a:endParaRPr lang="en-IN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7DB16D-107E-441F-A6C2-23A36D99AA32}"/>
              </a:ext>
            </a:extLst>
          </p:cNvPr>
          <p:cNvSpPr/>
          <p:nvPr/>
        </p:nvSpPr>
        <p:spPr>
          <a:xfrm>
            <a:off x="6223000" y="1320800"/>
            <a:ext cx="5461000" cy="4826000"/>
          </a:xfrm>
          <a:prstGeom prst="roundRect">
            <a:avLst>
              <a:gd name="adj" fmla="val 6000"/>
            </a:avLst>
          </a:prstGeom>
          <a:solidFill>
            <a:srgbClr val="E6F3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868E53-E31F-7364-07F4-C8B473D6E4E4}"/>
              </a:ext>
            </a:extLst>
          </p:cNvPr>
          <p:cNvSpPr txBox="1"/>
          <p:nvPr/>
        </p:nvSpPr>
        <p:spPr>
          <a:xfrm>
            <a:off x="6477000" y="15748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200" b="1">
                <a:solidFill>
                  <a:srgbClr val="1D7B84"/>
                </a:solidFill>
                <a:latin typeface="Calibri" panose="020F0502020204030204" pitchFamily="34" charset="0"/>
              </a:rPr>
              <a:t>Next 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77114E-6FE2-CDE4-8D20-52905315B599}"/>
              </a:ext>
            </a:extLst>
          </p:cNvPr>
          <p:cNvSpPr txBox="1"/>
          <p:nvPr/>
        </p:nvSpPr>
        <p:spPr>
          <a:xfrm>
            <a:off x="6477000" y="2133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1400"/>
              </a:spcAft>
              <a:buFont typeface="+mj-lt"/>
              <a:buChar char="•"/>
            </a:pPr>
            <a:r>
              <a:rPr lang="en-US">
                <a:solidFill>
                  <a:srgbClr val="27272A"/>
                </a:solidFill>
                <a:latin typeface="Calibri" panose="020F0502020204030204" pitchFamily="34" charset="0"/>
              </a:rPr>
              <a:t>Validate on real, consented CGM data with a partner hospital</a:t>
            </a:r>
          </a:p>
          <a:p>
            <a:pPr marL="177800" indent="-177800">
              <a:spcAft>
                <a:spcPts val="1400"/>
              </a:spcAft>
              <a:buFont typeface="+mj-lt"/>
              <a:buChar char="•"/>
            </a:pPr>
            <a:r>
              <a:rPr lang="en-US">
                <a:solidFill>
                  <a:srgbClr val="27272A"/>
                </a:solidFill>
                <a:latin typeface="Calibri" panose="020F0502020204030204" pitchFamily="34" charset="0"/>
              </a:rPr>
              <a:t>Re-fit each twin continuously as new meals are logged</a:t>
            </a:r>
          </a:p>
          <a:p>
            <a:pPr marL="177800" indent="-177800">
              <a:spcAft>
                <a:spcPts val="1400"/>
              </a:spcAft>
              <a:buFont typeface="+mj-lt"/>
              <a:buChar char="•"/>
            </a:pPr>
            <a:r>
              <a:rPr lang="en-US">
                <a:solidFill>
                  <a:srgbClr val="27272A"/>
                </a:solidFill>
                <a:latin typeface="Calibri" panose="020F0502020204030204" pitchFamily="34" charset="0"/>
              </a:rPr>
              <a:t>Patient app with an 'I'm about to eat' button (spike AUROC 0.975 with a meal plan)</a:t>
            </a:r>
          </a:p>
          <a:p>
            <a:pPr marL="177800" indent="-177800">
              <a:spcAft>
                <a:spcPts val="1400"/>
              </a:spcAft>
              <a:buFont typeface="+mj-lt"/>
              <a:buChar char="•"/>
            </a:pPr>
            <a:r>
              <a:rPr lang="en-US">
                <a:solidFill>
                  <a:srgbClr val="27272A"/>
                </a:solidFill>
                <a:latin typeface="Calibri" panose="020F0502020204030204" pitchFamily="34" charset="0"/>
              </a:rPr>
              <a:t>Same EHR + wearable fusion for hypertension and cardiovascular risk</a:t>
            </a:r>
            <a:endParaRPr lang="en-IN">
              <a:solidFill>
                <a:srgbClr val="27272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24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8AEBC0-E316-F1D0-F627-8E0E38369BC5}"/>
              </a:ext>
            </a:extLst>
          </p:cNvPr>
          <p:cNvSpPr txBox="1"/>
          <p:nvPr/>
        </p:nvSpPr>
        <p:spPr>
          <a:xfrm>
            <a:off x="762000" y="1905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8FD9CF"/>
                </a:solidFill>
                <a:latin typeface="Calibri" panose="020F0502020204030204" pitchFamily="34" charset="0"/>
              </a:rPr>
              <a:t>Sugar Twin India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5EA5A-1D99-4B9A-362F-5393851B1532}"/>
              </a:ext>
            </a:extLst>
          </p:cNvPr>
          <p:cNvSpPr txBox="1"/>
          <p:nvPr/>
        </p:nvSpPr>
        <p:spPr>
          <a:xfrm>
            <a:off x="762000" y="2362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Calibri" panose="020F0502020204030204" pitchFamily="34" charset="0"/>
              </a:rPr>
              <a:t>Who needs me now, and what should I tell them?</a:t>
            </a:r>
            <a:endParaRPr lang="en-IN" sz="4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9A86EC-7229-F76A-6638-BEF6F2EC0E5E}"/>
              </a:ext>
            </a:extLst>
          </p:cNvPr>
          <p:cNvSpPr txBox="1"/>
          <p:nvPr/>
        </p:nvSpPr>
        <p:spPr>
          <a:xfrm>
            <a:off x="762000" y="3810000"/>
            <a:ext cx="10668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D4E4E2"/>
                </a:solidFill>
                <a:latin typeface="Calibri" panose="020F0502020204030204" pitchFamily="34" charset="0"/>
              </a:rPr>
              <a:t>A digital twin that answers the doctor's question in seconds, two hours before the event.</a:t>
            </a:r>
            <a:endParaRPr lang="en-IN">
              <a:solidFill>
                <a:srgbClr val="D4E4E2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6D9EC-3ADA-9D3F-F0B0-B59EE9D656A0}"/>
              </a:ext>
            </a:extLst>
          </p:cNvPr>
          <p:cNvSpPr txBox="1"/>
          <p:nvPr/>
        </p:nvSpPr>
        <p:spPr>
          <a:xfrm>
            <a:off x="762000" y="482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FFFFFF"/>
                </a:solidFill>
                <a:latin typeface="Calibri" panose="020F0502020204030204" pitchFamily="34" charset="0"/>
              </a:rPr>
              <a:t>github.com/Aayushg0908/sugar-twin-india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6D12B-2FDD-6C9E-4D2D-D91B61536479}"/>
              </a:ext>
            </a:extLst>
          </p:cNvPr>
          <p:cNvSpPr txBox="1"/>
          <p:nvPr/>
        </p:nvSpPr>
        <p:spPr>
          <a:xfrm>
            <a:off x="762000" y="5181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8FD9CF"/>
                </a:solidFill>
                <a:latin typeface="Calibri" panose="020F0502020204030204" pitchFamily="34" charset="0"/>
              </a:rPr>
              <a:t>Team guptaaayush0908 · Maharaja Agrasen Institute of Technology · MIT License</a:t>
            </a:r>
            <a:endParaRPr lang="en-IN" sz="1400">
              <a:solidFill>
                <a:srgbClr val="8FD9C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4E4E6-E496-B010-28E6-2BE024EC5DC3}"/>
              </a:ext>
            </a:extLst>
          </p:cNvPr>
          <p:cNvSpPr txBox="1"/>
          <p:nvPr/>
        </p:nvSpPr>
        <p:spPr>
          <a:xfrm>
            <a:off x="762000" y="5969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D4E4E2"/>
                </a:solidFill>
                <a:latin typeface="Calibri" panose="020F0502020204030204" pitchFamily="34" charset="0"/>
              </a:rPr>
              <a:t>All patient data is synthetic. Decision-support prototype, not a medical device.</a:t>
            </a:r>
            <a:endParaRPr lang="en-IN" sz="1200">
              <a:solidFill>
                <a:srgbClr val="D4E4E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94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1787</Words>
  <Application>Microsoft Office PowerPoint</Application>
  <PresentationFormat>Custom</PresentationFormat>
  <Paragraphs>219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 singh</dc:creator>
  <cp:lastModifiedBy>divyansh singh</cp:lastModifiedBy>
  <cp:revision>1</cp:revision>
  <dcterms:created xsi:type="dcterms:W3CDTF">2026-10-18T18:01:17Z</dcterms:created>
  <dcterms:modified xsi:type="dcterms:W3CDTF">2026-10-18T18:01:17Z</dcterms:modified>
</cp:coreProperties>
</file>